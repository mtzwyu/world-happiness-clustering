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và Hội đồng chấm đồ án. Em là Hà Mạnh Trường, nhóm trưởng Nhóm 12. Hôm nay nhóm em xin phép báo cáo Đề tài 16: Phân nhóm quốc gia theo các yếu tố tạo nên mức độ hạnh phúc dựa trên dữ liệu World Happiness Report giai đoạn 2015–2019. Video báo cáo hôm nay sẽ kéo dài dưới 12 phút và được chia làm 3 phần rành mạch: Em sẽ phụ trách Phần 1 về bối cảnh đề tài và quy trình tiền xử lý dữ liệu; bạn Huỳnh Tâm Trí sẽ trình bày Phần 2 về thuật toán tự cài đặt và thực nghiệm tham số; cuối cùng bạn Ngô Quang Trung sẽ trình bày Phần 3 về diễn giải tri thức, theo dõi dịch chuyển cụm và demo ứng dụng tương tác.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và Hội đồng chấm đồ án, nội dung bài báo cáo của nhóm em gồm 5 phần chính: Phần 1 là tổng quan bối cảnh đề tài và cơ sở lý thuyết; Phần 2 là quy trình thu thập và tiền xử lý dữ liệu 5 năm; Phần 3 là phương pháp luận và cài đặt các thuật toán from scratch; Phần 4 là kết quả thực nghiệm tối ưu hóa và đánh giá đối chứng mô hình; và Phần 5 là diễn giải tri thức kinh tế - xã hội, theo dõi dịch chuyển cụm, demo ứng dụng tương tác cùng kết luận đề tài.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lý do chọn đề tài: Báo cáo Hạnh phúc Thế giới là nguồn dữ liệu chuẩn mực toàn cầu. Tuy nhiên, nếu chỉ nhìn vào một con số điểm hạnh phúc duy nhất, chúng ta không thể biết một quốc gia đạt điểm đó nhờ kinh tế vượt trội hay nhờ an sinh xã hội vững chắc. Do đó, việc áp dụng gom cụm không giám sát dựa trên 6 yếu tố cơ sở sẽ giúp khám phá ra các nhóm quốc gia có cùng chân dung phát triển tự nhiên. Đây là cơ sở thực chứng giúp định hình chính sách hỗ trợ phát triển bền vững.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khâu tiền xử lý dữ liệu, thách thức lớn nhất là cấu trúc cột và cách đặt tên quốc gia qua 5 năm hoàn toàn không đồng nhất. Nhóm đã thực hiện quy trình 4 bước chặt chẽ: Đầu tiên là đồng nhất schema 6 đặc trưng bằng từ điển chuyển đổi; thứ hai là loại bỏ triệt để các cột sai số thống kê mẫu; thứ ba là loại bỏ đúng 1 dòng của UAE năm 2018 do khuyết thiếu hoàn toàn chỉ số tham nhũng; và cuối cùng là chuẩn hóa danh pháp các quốc gia biến động cùng mã địa lý ISO-3 để phục vụ liên kết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sau tiền xử lý là một tập dữ liệu hoàn hảo gồm 781 bản ghi của 164 quốc gia với 162 mã ISO-3 phân biệt, sạch 100% không còn giá trị khuyết thiếu. Toàn bộ được đóng gói vào tệp dữ liệu trung gian happiness_merged.csv. Trên màn hình là ảnh chụp thực tế từ Notebook 01 hiển thị 5 dòng đầu của tập dữ liệu năm 2019. Tiếp theo, em xin nhường phần thuyết trình cho bạn Huỳnh Tâm Trí với nội dung thuật toán và thực nghiệm.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Thầy, em là Huỳnh Tâm Trí. Tiếp nối phần của bạn Trường, khi phân tích phân bố và tương quan, nhóm nhận thấy các chỉ số như tham nhũng và lòng hảo tâm bị lệch phải rất mạnh, đồng thời xuất hiện nhiều giá trị ngoại lai. Khi so sánh giữa Min-Max và Z-score, Min-Max làm các quốc gia trung bình bị nén chặt lại do tác động của các nước ngoại lai cực đại. Do đó, nhóm quyết định chọn Z-score làm phương pháp chuẩn hóa chính để giữ nguyên cấu trúc phân tán tự nhiên và tính toán khoảng cách Euclidean công bằng giữa 6 yếu tố.</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cốt lõi về kỹ thuật trong đồ án của nhóm là toàn bộ thuật toán gom cụm và độ đo đánh giá đều được tự lập trình from scratch bằng Python và NumPy cơ bản, tuyệt đối không gọi hàm thư viện có sẵn trong pipeline. Nhóm đã tự cài K-Means++ với khởi tạo xác suất, phân cấp tích tụ liên kết Ward chuẩn công thức Lance-Williams, và DBSCAN quét mật độ. Trên màn hình bên phải là ảnh chụp cell code và kết quả thực thi trong Notebook 03, khớp chính xác từng con số với scikit-learn và scipy.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xác định số cụm tối ưu, nhóm đã tiến hành khảo sát k từ 2 đến 9 trên cả 5 năm độc lập. Kết quả trên biểu đồ Elbow bên trái và bảng tính Excel thực nghiệm bên phải cho thấy cả 5 năm đều đồng thuận tuyệt đối tại k* = 3 với điểm Silhouette đạt đỉnh cao nhất, dao động từ 0,293 đến 0,344. Cấu hình 3 cụm này vừa có tính ổn định toán học cao nhất, vừa mang ý nghĩa kinh tế - xã hội rõ rệt khi phân hóa thế giới thành 3 nhóm phát triển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đặt các thuật toán lên bàn cân so sánh trên bảng tính thực nghiệm bên phải, K-Means trên dữ liệu Z-score thể hiện ưu thế vượt trội về độ tách biệt cụm với điểm Silhouette và Calinski-Harabasz cao nhất. Thuật toán phân cấp Ward cho kết quả tương đồng và mang tính tất định. Ngược lại, khi quét lưới 60 cấu hình DBSCAN, thuật toán này hoạt động kém hiệu quả do dữ liệu 6 chiều có mật độ biến thiên liên tục, khiến DBSCAN coi gần một phần tư số quốc gia là nhiễu. Do đó, nhóm chốt K-Means làm thuật toán phân nhóm chính cho đề tài.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kiểm tra tính bền vững của kết quả, nhóm đã kiểm tra độ ổn định của K-Means qua 10 lần khởi tạo hạt giống khác nhau. Bảng số liệu kiểm định bên phải cho thấy chỉ số Adjusted Rand Index đạt xấp xỉ tuyệt đối từ 0,979 đến 1,000, chứng minh thuật toán hội tụ rất ổn định và không phụ thuộc vào may rủi khởi tạo tâm ban đầu. Sau đây, em xin mời bạn Ngô Quang Trung tiếp tục trình bày Phần 3 về diễn giải tri thức kinh tế - xã hội và demo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em là Ngô Quang Trung. Bước sang phần diễn giải tri thức, trên biểu đồ radar mạng nhện 6 chiều bên phải, nhóm đã phác họa rõ nét chân dung của 3 cụm: Cụm 1 là nhóm các nước phát triển toàn diện, đường màu xanh bao trọn cả 6 đỉnh; Cụm 2 chiếm số đông nhất gồm các nước đang phát triển như Việt Nam và các nước Đông Nam Á, có tăng trưởng kinh tế khá nhưng an sinh và thể chế cần tiếp tục hoàn thiện. Cụm 3 là nhóm các quốc gia khó khăn và xung đột, cần sự ưu tiên trợ giúp khẩn cấp về y tế và an sinh xã hội.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Tuân thủ nghiêm ngặt quy tắc vàng của đề tài, nhóm không đưa điểm hạnh phúc vào lúc phân cụm mà chỉ dùng để hậu kiểm độc lập. Biểu đồ phân phối điểm bên phải và kết quả kiểm định ANOVA một nhân tố cho giá trị F từ 107 đến 159, cực kỳ có ý nghĩa thống kê. Điểm hạnh phúc giữa 3 cụm phân hóa rành mạch và giữ nguyên thứ tự qua cả 5 năm, với mức chênh lệch giữa cụm cao nhất và thấp nhất lên tới hơn 2,5 điểm. Điều này khẳng định 6 yếu tố cơ sở phản ánh rất sát mức độ hạnh phúc thực tế của con người.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mới trong đồ án của nhóm là thuật toán ghép cụm liên năm để theo dõi sự dịch chuyển của 156 quốc gia qua nửa thập kỷ. Kết quả chỉ ra rằng 91% số quốc gia ổn định tuyệt đối trong nhóm của mình. Trên bảng tính bên phải, có 4 quốc gia ghi nhận sự thăng hạng bền vững gồm Indonesia, Myanmar, Georgia và Botswana nhờ những bước tiến rõ rệt về an sinh xã hội và tuổi thọ khỏe mạnh. Ngược lại có 2 quốc gia bị suy giảm nhẹ do biến động về thể chế và tham nhũng.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biến các tri thức khai phá thành công cụ trực quan hữu ích, nhóm đã xây dựng ứng dụng web tương tác Streamlit với 4 tab chức năng. Người dùng có thể tùy biến xem biểu đồ radar đa chiều, tra cứu bản đồ địa lý thế giới theo chuẩn ISO-3, tra cứu chi tiết tiến trình phát triển của từng quốc gia như Việt Nam, và đặc biệt là tab mô phỏng gán nhãn cho một quốc gia giả định bằng cách kéo thanh trượt 6 chỉ số để hệ thống tính toán khoảng cách tâm theo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đề tài đã hoàn thành xuất sắc các mục tiêu đề ra với một pipeline hoàn chỉnh, thuật toán tự lập trình chuẩn xác và những phát hiện thực tế có giá trị về sự phân tầng hạnh phúc thế giới. Tuy vậy, nghiên cứu vẫn còn hạn chế do bộ dữ liệu chưa có các chỉ số về văn hóa và chênh lệch giàu nghèo nội bộ, điều mà nhóm mong muốn tiếp tục hoàn thiện trong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giai đoạn tiếp theo, nhóm định hướng mở rộng nghiên cứu theo 3 hướng trọng tâm: Thứ nhất là cập nhật chuỗi dữ liệu sang giai đoạn 2020–2024 để đo lường biến động của đại dịch COVID-19 và suy thoái kinh tế lên cấu trúc cụm hạnh phúc; thứ hai là bổ sung thêm các chỉ số vi mô như hệ số bất bình đẳng Gini và chi tiêu an sinh xã hội từ World Bank; và thứ ba là thử nghiệm các mô hình phân cụm nâng cao như Fuzzy C-Means và Time-series Clustering để phân tích sâu hơn các quốc gia chuyển tiếp.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Đến đây, phần báo cáo của Nhóm 12 xin phép được khép lại. Chúng em xin chân thành cảm ơn Thầy và Quý Hội đồng đã dành thời gian theo dõi bài thuyết trình của nhóm. Bây giờ cả 3 thành viên chúng em xin sẵn sàng lắng nghe các câu hỏi, góp ý quý báu và trả lời phản biện từ Thầy ạ. Em xin trân trọng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828800"/>
          </a:xfrm>
          <a:prstGeom prst="rect">
            <a:avLst/>
          </a:prstGeom>
          <a:noFill/>
        </p:spPr>
        <p:txBody>
          <a:bodyPr wrap="square">
            <a:spAutoFit/>
          </a:bodyPr>
          <a:lstStyle/>
          <a:p>
            <a:pPr>
              <a:defRPr sz="1600" b="1">
                <a:solidFill>
                  <a:srgbClr val="FDE047"/>
                </a:solidFill>
                <a:latin typeface="Arial"/>
              </a:defRPr>
            </a:pPr>
            <a:r>
              <a:t>HỌC PHẦN: KHAI THÁC DỮ LIỆU (DATA MINING)</a:t>
            </a:r>
          </a:p>
          <a:p>
            <a:pPr>
              <a:spcBef>
                <a:spcPts val="800"/>
              </a:spcBef>
              <a:defRPr sz="3200" b="1">
                <a:solidFill>
                  <a:srgbClr val="FFFFFF"/>
                </a:solidFill>
                <a:latin typeface="Arial"/>
              </a:defRPr>
            </a:pPr>
            <a:r>
              <a:t>BÁO CÁO ĐỒ ÁN MÔN HỌC — ĐỀ TÀI 16</a:t>
            </a:r>
          </a:p>
          <a:p>
            <a:pPr>
              <a:spcBef>
                <a:spcPts val="600"/>
              </a:spcBef>
              <a:defRPr sz="1950">
                <a:solidFill>
                  <a:srgbClr val="CBD5E1"/>
                </a:solidFill>
                <a:latin typeface="Arial"/>
              </a:defRPr>
            </a:pPr>
            <a:r>
              <a:t>Phân nhóm quốc gia theo các yếu tố hạnh phúc (World Happiness Report 2015–2019)</a:t>
            </a:r>
          </a:p>
        </p:txBody>
      </p:sp>
      <p:sp>
        <p:nvSpPr>
          <p:cNvPr id="4" name="Rounded Rectangle 3"/>
          <p:cNvSpPr/>
          <p:nvPr/>
        </p:nvSpPr>
        <p:spPr>
          <a:xfrm>
            <a:off x="914400" y="2926080"/>
            <a:ext cx="3291840" cy="210312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926080"/>
            <a:ext cx="2926080" cy="2103120"/>
          </a:xfrm>
          <a:prstGeom prst="rect">
            <a:avLst/>
          </a:prstGeom>
          <a:noFill/>
        </p:spPr>
        <p:txBody>
          <a:bodyPr wrap="square" anchor="ctr" lIns="0" tIns="0" rIns="0" bIns="0">
            <a:spAutoFit/>
          </a:bodyPr>
          <a:lstStyle/>
          <a:p>
            <a:pPr>
              <a:defRPr sz="2000" b="1">
                <a:solidFill>
                  <a:srgbClr val="FFFFFF"/>
                </a:solidFill>
                <a:latin typeface="Arial"/>
              </a:defRPr>
            </a:pPr>
            <a:r>
              <a:t>Hà Mạnh Trường</a:t>
            </a:r>
          </a:p>
          <a:p>
            <a:pPr>
              <a:spcBef>
                <a:spcPts val="400"/>
              </a:spcBef>
              <a:defRPr sz="1550">
                <a:solidFill>
                  <a:srgbClr val="FDE047"/>
                </a:solidFill>
                <a:latin typeface="Arial"/>
              </a:defRPr>
            </a:pPr>
            <a:r>
              <a:t>MSSV: 2045240326 (Nhóm trưởng)</a:t>
            </a:r>
          </a:p>
          <a:p>
            <a:pPr>
              <a:spcBef>
                <a:spcPts val="800"/>
              </a:spcBef>
              <a:defRPr sz="1500">
                <a:solidFill>
                  <a:srgbClr val="E2E8F0"/>
                </a:solidFill>
                <a:latin typeface="Arial"/>
              </a:defRPr>
            </a:pPr>
            <a:r>
              <a:t>Phần 1: Dữ liệu &amp; Tiền xử lý</a:t>
            </a:r>
          </a:p>
        </p:txBody>
      </p:sp>
      <p:sp>
        <p:nvSpPr>
          <p:cNvPr id="6" name="Rounded Rectangle 5"/>
          <p:cNvSpPr/>
          <p:nvPr/>
        </p:nvSpPr>
        <p:spPr>
          <a:xfrm>
            <a:off x="4443984" y="2926080"/>
            <a:ext cx="3291840" cy="21031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6864" y="2926080"/>
            <a:ext cx="2926080" cy="2103120"/>
          </a:xfrm>
          <a:prstGeom prst="rect">
            <a:avLst/>
          </a:prstGeom>
          <a:noFill/>
        </p:spPr>
        <p:txBody>
          <a:bodyPr wrap="square" anchor="ctr" lIns="0" tIns="0" rIns="0" bIns="0">
            <a:spAutoFit/>
          </a:bodyPr>
          <a:lstStyle/>
          <a:p>
            <a:pPr>
              <a:defRPr sz="2000" b="1">
                <a:solidFill>
                  <a:srgbClr val="FFFFFF"/>
                </a:solidFill>
                <a:latin typeface="Arial"/>
              </a:defRPr>
            </a:pPr>
            <a:r>
              <a:t>Huỳnh Tâm Trí</a:t>
            </a:r>
          </a:p>
          <a:p>
            <a:pPr>
              <a:spcBef>
                <a:spcPts val="400"/>
              </a:spcBef>
              <a:defRPr sz="1550">
                <a:solidFill>
                  <a:srgbClr val="FDE047"/>
                </a:solidFill>
                <a:latin typeface="Arial"/>
              </a:defRPr>
            </a:pPr>
            <a:r>
              <a:t>MSSV: 2045240315</a:t>
            </a:r>
          </a:p>
          <a:p>
            <a:pPr>
              <a:spcBef>
                <a:spcPts val="800"/>
              </a:spcBef>
              <a:defRPr sz="1500">
                <a:solidFill>
                  <a:srgbClr val="E2E8F0"/>
                </a:solidFill>
                <a:latin typeface="Arial"/>
              </a:defRPr>
            </a:pPr>
            <a:r>
              <a:t>Phần 2: Thuật toán From Scratch</a:t>
            </a:r>
          </a:p>
        </p:txBody>
      </p:sp>
      <p:sp>
        <p:nvSpPr>
          <p:cNvPr id="8" name="Rounded Rectangle 7"/>
          <p:cNvSpPr/>
          <p:nvPr/>
        </p:nvSpPr>
        <p:spPr>
          <a:xfrm>
            <a:off x="7973568" y="2926080"/>
            <a:ext cx="3291840" cy="2103120"/>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56448" y="2926080"/>
            <a:ext cx="2926080" cy="2103120"/>
          </a:xfrm>
          <a:prstGeom prst="rect">
            <a:avLst/>
          </a:prstGeom>
          <a:noFill/>
        </p:spPr>
        <p:txBody>
          <a:bodyPr wrap="square" anchor="ctr" lIns="0" tIns="0" rIns="0" bIns="0">
            <a:spAutoFit/>
          </a:bodyPr>
          <a:lstStyle/>
          <a:p>
            <a:pPr>
              <a:defRPr sz="2000" b="1">
                <a:solidFill>
                  <a:srgbClr val="FFFFFF"/>
                </a:solidFill>
                <a:latin typeface="Arial"/>
              </a:defRPr>
            </a:pPr>
            <a:r>
              <a:t>Ngô Quang Trung</a:t>
            </a:r>
          </a:p>
          <a:p>
            <a:pPr>
              <a:spcBef>
                <a:spcPts val="400"/>
              </a:spcBef>
              <a:defRPr sz="1550">
                <a:solidFill>
                  <a:srgbClr val="FDE047"/>
                </a:solidFill>
                <a:latin typeface="Arial"/>
              </a:defRPr>
            </a:pPr>
            <a:r>
              <a:t>MSSV: 2045240325</a:t>
            </a:r>
          </a:p>
          <a:p>
            <a:pPr>
              <a:spcBef>
                <a:spcPts val="800"/>
              </a:spcBef>
              <a:defRPr sz="1500">
                <a:solidFill>
                  <a:srgbClr val="E2E8F0"/>
                </a:solidFill>
                <a:latin typeface="Arial"/>
              </a:defRPr>
            </a:pPr>
            <a:r>
              <a:t>Phần 3: Diễn giải tri thức &amp; Demo</a:t>
            </a:r>
          </a:p>
        </p:txBody>
      </p:sp>
      <p:sp>
        <p:nvSpPr>
          <p:cNvPr id="10" name="TextBox 9"/>
          <p:cNvSpPr txBox="1"/>
          <p:nvPr/>
        </p:nvSpPr>
        <p:spPr>
          <a:xfrm>
            <a:off x="914400" y="5486400"/>
            <a:ext cx="10362895" cy="822960"/>
          </a:xfrm>
          <a:prstGeom prst="rect">
            <a:avLst/>
          </a:prstGeom>
          <a:noFill/>
        </p:spPr>
        <p:txBody>
          <a:bodyPr wrap="none">
            <a:spAutoFit/>
          </a:bodyPr>
          <a:lstStyle/>
          <a:p>
            <a:pPr algn="ctr">
              <a:defRPr sz="1500">
                <a:solidFill>
                  <a:srgbClr val="94A3B8"/>
                </a:solidFill>
                <a:latin typeface="Arial"/>
              </a:defRPr>
            </a:pPr>
            <a:r>
              <a:t>Video báo cáo: Thời lượng tối đa 12 phút • Dữ liệu nghiên cứu: 5 năm WHR (781 bản ghi sạch) • Cài đặt 100% From Scratch</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TỔNG QUAN TIẾN TRÌNH THỰC HIỆN</a:t>
            </a:r>
          </a:p>
          <a:p>
            <a:pPr>
              <a:spcBef>
                <a:spcPts val="300"/>
              </a:spcBef>
              <a:defRPr sz="2350" b="1">
                <a:solidFill>
                  <a:srgbClr val="0F172A"/>
                </a:solidFill>
                <a:latin typeface="Arial"/>
              </a:defRPr>
            </a:pPr>
            <a:r>
              <a:t>NỘI DUNG BÁO CÁO GỒM</a:t>
            </a:r>
          </a:p>
        </p:txBody>
      </p:sp>
      <p:sp>
        <p:nvSpPr>
          <p:cNvPr id="4" name="Rounded Rectangle 3"/>
          <p:cNvSpPr/>
          <p:nvPr/>
        </p:nvSpPr>
        <p:spPr>
          <a:xfrm>
            <a:off x="731520" y="1463040"/>
            <a:ext cx="3383280" cy="237744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2980944" cy="2377440"/>
          </a:xfrm>
          <a:prstGeom prst="rect">
            <a:avLst/>
          </a:prstGeom>
          <a:noFill/>
        </p:spPr>
        <p:txBody>
          <a:bodyPr wrap="square" anchor="ctr" lIns="0" tIns="0" rIns="0" bIns="0">
            <a:spAutoFit/>
          </a:bodyPr>
          <a:lstStyle/>
          <a:p>
            <a:pPr>
              <a:defRPr sz="1800" b="1">
                <a:solidFill>
                  <a:srgbClr val="059669"/>
                </a:solidFill>
                <a:latin typeface="Arial"/>
              </a:defRPr>
            </a:pPr>
            <a:r>
              <a:t>Phần 1: Tổng quan đề tài &amp; Cơ sở lý thuyết</a:t>
            </a:r>
          </a:p>
          <a:p>
            <a:pPr>
              <a:spcBef>
                <a:spcPts val="400"/>
              </a:spcBef>
              <a:spcAft>
                <a:spcPts val="0"/>
              </a:spcAft>
              <a:defRPr sz="1500">
                <a:solidFill>
                  <a:srgbClr val="0F172A"/>
                </a:solidFill>
                <a:latin typeface="Arial"/>
              </a:defRPr>
            </a:pPr>
            <a:r>
              <a:t>• Bối cảnh Báo cáo Hạnh phúc Thế giới WHR (2015–2019).</a:t>
            </a:r>
          </a:p>
          <a:p>
            <a:pPr>
              <a:spcBef>
                <a:spcPts val="400"/>
              </a:spcBef>
              <a:spcAft>
                <a:spcPts val="0"/>
              </a:spcAft>
              <a:defRPr sz="1500">
                <a:solidFill>
                  <a:srgbClr val="0F172A"/>
                </a:solidFill>
                <a:latin typeface="Arial"/>
              </a:defRPr>
            </a:pPr>
            <a:r>
              <a:t>• Hạn chế điểm số đơn lẻ &amp; Gom cụm không giám sát 6 yếu tố cơ sở.</a:t>
            </a:r>
          </a:p>
        </p:txBody>
      </p:sp>
      <p:sp>
        <p:nvSpPr>
          <p:cNvPr id="6" name="Rounded Rectangle 5"/>
          <p:cNvSpPr/>
          <p:nvPr/>
        </p:nvSpPr>
        <p:spPr>
          <a:xfrm>
            <a:off x="4398264" y="1463040"/>
            <a:ext cx="3383280" cy="237744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9432" y="1463040"/>
            <a:ext cx="2980944" cy="2377440"/>
          </a:xfrm>
          <a:prstGeom prst="rect">
            <a:avLst/>
          </a:prstGeom>
          <a:noFill/>
        </p:spPr>
        <p:txBody>
          <a:bodyPr wrap="square" anchor="ctr" lIns="0" tIns="0" rIns="0" bIns="0">
            <a:spAutoFit/>
          </a:bodyPr>
          <a:lstStyle/>
          <a:p>
            <a:pPr>
              <a:defRPr sz="1800" b="1">
                <a:solidFill>
                  <a:srgbClr val="059669"/>
                </a:solidFill>
                <a:latin typeface="Arial"/>
              </a:defRPr>
            </a:pPr>
            <a:r>
              <a:t>Phần 2: Dữ liệu &amp; Quy trình tiền xử lý 5 năm</a:t>
            </a:r>
          </a:p>
          <a:p>
            <a:pPr>
              <a:spcBef>
                <a:spcPts val="400"/>
              </a:spcBef>
              <a:spcAft>
                <a:spcPts val="0"/>
              </a:spcAft>
              <a:defRPr sz="1500">
                <a:solidFill>
                  <a:srgbClr val="0F172A"/>
                </a:solidFill>
                <a:latin typeface="Arial"/>
              </a:defRPr>
            </a:pPr>
            <a:r>
              <a:t>• Đồng nhất schema 5 năm, xử lý khuyết thiếu (loại UAE 2018).</a:t>
            </a:r>
          </a:p>
          <a:p>
            <a:pPr>
              <a:spcBef>
                <a:spcPts val="400"/>
              </a:spcBef>
              <a:spcAft>
                <a:spcPts val="0"/>
              </a:spcAft>
              <a:defRPr sz="1500">
                <a:solidFill>
                  <a:srgbClr val="0F172A"/>
                </a:solidFill>
                <a:latin typeface="Arial"/>
              </a:defRPr>
            </a:pPr>
            <a:r>
              <a:t>• Tập dữ liệu 781 bản ghi sạch 100% và chuẩn hóa địa lý ISO-3.</a:t>
            </a:r>
          </a:p>
        </p:txBody>
      </p:sp>
      <p:sp>
        <p:nvSpPr>
          <p:cNvPr id="8" name="Rounded Rectangle 7"/>
          <p:cNvSpPr/>
          <p:nvPr/>
        </p:nvSpPr>
        <p:spPr>
          <a:xfrm>
            <a:off x="8065008" y="1463040"/>
            <a:ext cx="3383280" cy="237744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6" y="1463040"/>
            <a:ext cx="2980944" cy="2377440"/>
          </a:xfrm>
          <a:prstGeom prst="rect">
            <a:avLst/>
          </a:prstGeom>
          <a:noFill/>
        </p:spPr>
        <p:txBody>
          <a:bodyPr wrap="square" anchor="ctr" lIns="0" tIns="0" rIns="0" bIns="0">
            <a:spAutoFit/>
          </a:bodyPr>
          <a:lstStyle/>
          <a:p>
            <a:pPr>
              <a:defRPr sz="1800" b="1">
                <a:solidFill>
                  <a:srgbClr val="2563EB"/>
                </a:solidFill>
                <a:latin typeface="Arial"/>
              </a:defRPr>
            </a:pPr>
            <a:r>
              <a:t>Phần 3: Phương pháp luận &amp; Thuật toán From Scratch</a:t>
            </a:r>
          </a:p>
          <a:p>
            <a:pPr>
              <a:spcBef>
                <a:spcPts val="400"/>
              </a:spcBef>
              <a:spcAft>
                <a:spcPts val="0"/>
              </a:spcAft>
              <a:defRPr sz="1500">
                <a:solidFill>
                  <a:srgbClr val="0F172A"/>
                </a:solidFill>
                <a:latin typeface="Arial"/>
              </a:defRPr>
            </a:pPr>
            <a:r>
              <a:t>• Cơ sở lựa chọn chuẩn hóa Z-score &amp; giảm chiều PCA.</a:t>
            </a:r>
          </a:p>
          <a:p>
            <a:pPr>
              <a:spcBef>
                <a:spcPts val="400"/>
              </a:spcBef>
              <a:spcAft>
                <a:spcPts val="0"/>
              </a:spcAft>
              <a:defRPr sz="1500">
                <a:solidFill>
                  <a:srgbClr val="0F172A"/>
                </a:solidFill>
                <a:latin typeface="Arial"/>
              </a:defRPr>
            </a:pPr>
            <a:r>
              <a:t>• Tự cài đặt K-Means++, Hierarchical Ward Lance-Williams &amp; DBSCAN.</a:t>
            </a:r>
          </a:p>
        </p:txBody>
      </p:sp>
      <p:sp>
        <p:nvSpPr>
          <p:cNvPr id="10" name="Rounded Rectangle 9"/>
          <p:cNvSpPr/>
          <p:nvPr/>
        </p:nvSpPr>
        <p:spPr>
          <a:xfrm>
            <a:off x="731520" y="4069080"/>
            <a:ext cx="5221224" cy="237744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069080"/>
            <a:ext cx="4818888" cy="2377440"/>
          </a:xfrm>
          <a:prstGeom prst="rect">
            <a:avLst/>
          </a:prstGeom>
          <a:noFill/>
        </p:spPr>
        <p:txBody>
          <a:bodyPr wrap="square" anchor="ctr" lIns="0" tIns="0" rIns="0" bIns="0">
            <a:spAutoFit/>
          </a:bodyPr>
          <a:lstStyle/>
          <a:p>
            <a:pPr>
              <a:defRPr sz="1850" b="1">
                <a:solidFill>
                  <a:srgbClr val="2563EB"/>
                </a:solidFill>
                <a:latin typeface="Arial"/>
              </a:defRPr>
            </a:pPr>
            <a:r>
              <a:t>Phần 4: Thực nghiệm gom cụm, Tối ưu hóa &amp; Đối chứng</a:t>
            </a:r>
          </a:p>
          <a:p>
            <a:pPr>
              <a:spcBef>
                <a:spcPts val="500"/>
              </a:spcBef>
              <a:spcAft>
                <a:spcPts val="0"/>
              </a:spcAft>
              <a:defRPr sz="1550">
                <a:solidFill>
                  <a:srgbClr val="0F172A"/>
                </a:solidFill>
                <a:latin typeface="Arial"/>
              </a:defRPr>
            </a:pPr>
            <a:r>
              <a:t>• Thẩm định số cụm tối ưu k* = 3 đồng thuận qua cả 5 năm.</a:t>
            </a:r>
          </a:p>
          <a:p>
            <a:pPr>
              <a:spcBef>
                <a:spcPts val="500"/>
              </a:spcBef>
              <a:spcAft>
                <a:spcPts val="0"/>
              </a:spcAft>
              <a:defRPr sz="1550">
                <a:solidFill>
                  <a:srgbClr val="0F172A"/>
                </a:solidFill>
                <a:latin typeface="Arial"/>
              </a:defRPr>
            </a:pPr>
            <a:r>
              <a:t>• Đối chứng K-Means vs Ward vs DBSCAN và kiểm định độ ổn định ARI.</a:t>
            </a:r>
          </a:p>
        </p:txBody>
      </p:sp>
      <p:sp>
        <p:nvSpPr>
          <p:cNvPr id="12" name="Rounded Rectangle 11"/>
          <p:cNvSpPr/>
          <p:nvPr/>
        </p:nvSpPr>
        <p:spPr>
          <a:xfrm>
            <a:off x="6236208" y="4069080"/>
            <a:ext cx="5221224" cy="237744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069080"/>
            <a:ext cx="4818888" cy="2377440"/>
          </a:xfrm>
          <a:prstGeom prst="rect">
            <a:avLst/>
          </a:prstGeom>
          <a:noFill/>
        </p:spPr>
        <p:txBody>
          <a:bodyPr wrap="square" anchor="ctr" lIns="0" tIns="0" rIns="0" bIns="0">
            <a:spAutoFit/>
          </a:bodyPr>
          <a:lstStyle/>
          <a:p>
            <a:pPr>
              <a:defRPr sz="1850" b="1">
                <a:solidFill>
                  <a:srgbClr val="D97706"/>
                </a:solidFill>
                <a:latin typeface="Arial"/>
              </a:defRPr>
            </a:pPr>
            <a:r>
              <a:t>Phần 5: Diễn giải tri thức, Demo tương tác &amp; Kết luận</a:t>
            </a:r>
          </a:p>
          <a:p>
            <a:pPr>
              <a:spcBef>
                <a:spcPts val="500"/>
              </a:spcBef>
              <a:spcAft>
                <a:spcPts val="0"/>
              </a:spcAft>
              <a:defRPr sz="1550">
                <a:solidFill>
                  <a:srgbClr val="0F172A"/>
                </a:solidFill>
                <a:latin typeface="Arial"/>
              </a:defRPr>
            </a:pPr>
            <a:r>
              <a:t>• Chân dung 3 cụm, hậu kiểm ANOVA, dịch chuyển 142/156 quốc gia.</a:t>
            </a:r>
          </a:p>
          <a:p>
            <a:pPr>
              <a:spcBef>
                <a:spcPts val="500"/>
              </a:spcBef>
              <a:spcAft>
                <a:spcPts val="0"/>
              </a:spcAft>
              <a:defRPr sz="1550">
                <a:solidFill>
                  <a:srgbClr val="0F172A"/>
                </a:solidFill>
                <a:latin typeface="Arial"/>
              </a:defRPr>
            </a:pPr>
            <a:r>
              <a:t>• Demo tương tác Streamlit 4 tab, đúc kết đóng góp &amp; hướng mở rộng.</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1: TỔNG QUAN ĐỀ TÀI</a:t>
            </a:r>
          </a:p>
          <a:p>
            <a:pPr>
              <a:spcBef>
                <a:spcPts val="300"/>
              </a:spcBef>
              <a:defRPr sz="2350" b="1">
                <a:solidFill>
                  <a:srgbClr val="0F172A"/>
                </a:solidFill>
                <a:latin typeface="Arial"/>
              </a:defRPr>
            </a:pPr>
            <a:r>
              <a:t>LÝ DO CHỌN ĐỀ TÀI &amp; Ý NGHĨA WORLD HAPPINESS REPORT</a:t>
            </a:r>
          </a:p>
        </p:txBody>
      </p:sp>
      <p:sp>
        <p:nvSpPr>
          <p:cNvPr id="4" name="Rounded Rectangle 3"/>
          <p:cNvSpPr/>
          <p:nvPr/>
        </p:nvSpPr>
        <p:spPr>
          <a:xfrm>
            <a:off x="731520" y="1463040"/>
            <a:ext cx="5212080" cy="4846320"/>
          </a:xfrm>
          <a:prstGeom prst="roundRect">
            <a:avLst/>
          </a:prstGeom>
          <a:solidFill>
            <a:srgbClr val="F8FAFC"/>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4809744" cy="4846320"/>
          </a:xfrm>
          <a:prstGeom prst="rect">
            <a:avLst/>
          </a:prstGeom>
          <a:noFill/>
        </p:spPr>
        <p:txBody>
          <a:bodyPr wrap="square" anchor="ctr" lIns="0" tIns="0" rIns="0" bIns="0">
            <a:spAutoFit/>
          </a:bodyPr>
          <a:lstStyle/>
          <a:p>
            <a:pPr>
              <a:defRPr sz="1850" b="1">
                <a:solidFill>
                  <a:srgbClr val="DC2626"/>
                </a:solidFill>
                <a:latin typeface="Arial"/>
              </a:defRPr>
            </a:pPr>
            <a:r>
              <a:t>Thực trạng: Hạn chế của Điểm số Đơn lẻ</a:t>
            </a:r>
          </a:p>
          <a:p>
            <a:pPr>
              <a:spcBef>
                <a:spcPts val="500"/>
              </a:spcBef>
              <a:spcAft>
                <a:spcPts val="0"/>
              </a:spcAft>
              <a:defRPr sz="1700">
                <a:solidFill>
                  <a:srgbClr val="0F172A"/>
                </a:solidFill>
                <a:latin typeface="Arial"/>
              </a:defRPr>
            </a:pPr>
            <a:r>
              <a:t>• World Happiness Report (WHR) công bố thường niên từ 2012 dưới sự chủ trì của SDSN Liên Hợp Quốc.</a:t>
            </a:r>
          </a:p>
          <a:p>
            <a:pPr>
              <a:spcBef>
                <a:spcPts val="500"/>
              </a:spcBef>
              <a:spcAft>
                <a:spcPts val="0"/>
              </a:spcAft>
              <a:defRPr sz="1700">
                <a:solidFill>
                  <a:srgbClr val="0F172A"/>
                </a:solidFill>
                <a:latin typeface="Arial"/>
              </a:defRPr>
            </a:pPr>
            <a:r>
              <a:t>• Điểm Cantril Ladder (0–10) là một con số duy nhất, dễ che lấp các thế mạnh hoặc điểm nghẽn đặc thù của từng quốc gia.</a:t>
            </a:r>
          </a:p>
          <a:p>
            <a:pPr>
              <a:spcBef>
                <a:spcPts val="500"/>
              </a:spcBef>
              <a:spcAft>
                <a:spcPts val="0"/>
              </a:spcAft>
              <a:defRPr sz="1700">
                <a:solidFill>
                  <a:srgbClr val="0F172A"/>
                </a:solidFill>
                <a:latin typeface="Arial"/>
              </a:defRPr>
            </a:pPr>
            <a:r>
              <a:t>• Hai quốc gia cùng điểm số có thể đến từ 2 mô hình đối nghịch: kinh tế vượt trội vs. an sinh xã hội vững chắc.</a:t>
            </a:r>
          </a:p>
          <a:p>
            <a:pPr>
              <a:spcBef>
                <a:spcPts val="500"/>
              </a:spcBef>
              <a:spcAft>
                <a:spcPts val="0"/>
              </a:spcAft>
              <a:defRPr sz="1700">
                <a:solidFill>
                  <a:srgbClr val="0F172A"/>
                </a:solidFill>
                <a:latin typeface="Arial"/>
              </a:defRPr>
            </a:pPr>
            <a:r>
              <a:t>• Không thể áp dụng chính sách 'cào bằng' nếu chưa hiểu rõ các yếu tố cốt lõi thúc đẩy hạnh phúc thực tế.</a:t>
            </a:r>
          </a:p>
        </p:txBody>
      </p:sp>
      <p:sp>
        <p:nvSpPr>
          <p:cNvPr id="6" name="Rounded Rectangle 5"/>
          <p:cNvSpPr/>
          <p:nvPr/>
        </p:nvSpPr>
        <p:spPr>
          <a:xfrm>
            <a:off x="6245352" y="1463040"/>
            <a:ext cx="5212080" cy="484632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463040"/>
            <a:ext cx="4809744" cy="4846320"/>
          </a:xfrm>
          <a:prstGeom prst="rect">
            <a:avLst/>
          </a:prstGeom>
          <a:noFill/>
        </p:spPr>
        <p:txBody>
          <a:bodyPr wrap="square" anchor="ctr" lIns="0" tIns="0" rIns="0" bIns="0">
            <a:spAutoFit/>
          </a:bodyPr>
          <a:lstStyle/>
          <a:p>
            <a:pPr>
              <a:defRPr sz="1850" b="1">
                <a:solidFill>
                  <a:srgbClr val="0284C7"/>
                </a:solidFill>
                <a:latin typeface="Arial"/>
              </a:defRPr>
            </a:pPr>
            <a:r>
              <a:t>Giải pháp: Khai phá Gom cụm Không giám sát</a:t>
            </a:r>
          </a:p>
          <a:p>
            <a:pPr>
              <a:spcBef>
                <a:spcPts val="500"/>
              </a:spcBef>
              <a:spcAft>
                <a:spcPts val="0"/>
              </a:spcAft>
              <a:defRPr sz="1700">
                <a:solidFill>
                  <a:srgbClr val="0F172A"/>
                </a:solidFill>
                <a:latin typeface="Arial"/>
              </a:defRPr>
            </a:pPr>
            <a:r>
              <a:t>• Gom cụm không giám sát (Unsupervised Clustering) thuần túy dựa trên 6 trụ cột cơ sở khách quan.</a:t>
            </a:r>
          </a:p>
          <a:p>
            <a:pPr>
              <a:spcBef>
                <a:spcPts val="500"/>
              </a:spcBef>
              <a:spcAft>
                <a:spcPts val="0"/>
              </a:spcAft>
              <a:defRPr sz="1700">
                <a:solidFill>
                  <a:srgbClr val="0F172A"/>
                </a:solidFill>
                <a:latin typeface="Arial"/>
              </a:defRPr>
            </a:pPr>
            <a:r>
              <a:t>• Quy tắc vàng: Tuyệt đối không dùng Happiness Score vào phân cụm để bảo đảm tính khách quan hoàn toàn.</a:t>
            </a:r>
          </a:p>
          <a:p>
            <a:pPr>
              <a:spcBef>
                <a:spcPts val="500"/>
              </a:spcBef>
              <a:spcAft>
                <a:spcPts val="0"/>
              </a:spcAft>
              <a:defRPr sz="1700">
                <a:solidFill>
                  <a:srgbClr val="0F172A"/>
                </a:solidFill>
                <a:latin typeface="Arial"/>
              </a:defRPr>
            </a:pPr>
            <a:r>
              <a:t>• Nhận diện đúng điểm nghẽn về thể chế (tham nhũng), y tế hay an sinh để tư vấn chính sách trúng đích.</a:t>
            </a:r>
          </a:p>
          <a:p>
            <a:pPr>
              <a:spcBef>
                <a:spcPts val="500"/>
              </a:spcBef>
              <a:spcAft>
                <a:spcPts val="0"/>
              </a:spcAft>
              <a:defRPr sz="1700">
                <a:solidFill>
                  <a:srgbClr val="0F172A"/>
                </a:solidFill>
                <a:latin typeface="Arial"/>
              </a:defRPr>
            </a:pPr>
            <a:r>
              <a:t>• Ý nghĩa học thuật: Hiện thực hóa quy trình khai thác dữ liệu chuẩn mực, tự lập trình 100% From Scratch.</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2: 4 BƯỚC TIỀN XỬ LÝ KỸ THUẬT</a:t>
            </a:r>
          </a:p>
          <a:p>
            <a:pPr>
              <a:spcBef>
                <a:spcPts val="300"/>
              </a:spcBef>
              <a:defRPr sz="2350" b="1">
                <a:solidFill>
                  <a:srgbClr val="0F172A"/>
                </a:solidFill>
                <a:latin typeface="Arial"/>
              </a:defRPr>
            </a:pPr>
            <a:r>
              <a:t>QUY TRÌNH TIỀN XỬ LÝ DỮ LIỆU 5 NĂM (2015–2019)</a:t>
            </a:r>
          </a:p>
        </p:txBody>
      </p:sp>
      <p:sp>
        <p:nvSpPr>
          <p:cNvPr id="4" name="Rounded Rectangle 3"/>
          <p:cNvSpPr/>
          <p:nvPr/>
        </p:nvSpPr>
        <p:spPr>
          <a:xfrm>
            <a:off x="731520" y="1463040"/>
            <a:ext cx="3931920" cy="484632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3529584" cy="4846320"/>
          </a:xfrm>
          <a:prstGeom prst="rect">
            <a:avLst/>
          </a:prstGeom>
          <a:noFill/>
        </p:spPr>
        <p:txBody>
          <a:bodyPr wrap="square" anchor="ctr" lIns="0" tIns="0" rIns="0" bIns="0">
            <a:spAutoFit/>
          </a:bodyPr>
          <a:lstStyle/>
          <a:p>
            <a:pPr>
              <a:defRPr sz="1850" b="1">
                <a:solidFill>
                  <a:srgbClr val="0284C7"/>
                </a:solidFill>
                <a:latin typeface="Arial"/>
              </a:defRPr>
            </a:pPr>
            <a:r>
              <a:t>4 Bước Tiền xử lý Kỹ thuật</a:t>
            </a:r>
          </a:p>
          <a:p>
            <a:pPr>
              <a:spcBef>
                <a:spcPts val="500"/>
              </a:spcBef>
              <a:spcAft>
                <a:spcPts val="0"/>
              </a:spcAft>
              <a:defRPr sz="1600">
                <a:solidFill>
                  <a:srgbClr val="0F172A"/>
                </a:solidFill>
                <a:latin typeface="Arial"/>
              </a:defRPr>
            </a:pPr>
            <a:r>
              <a:t>• Bước 1: Thu thập 5 tệp CSV từ Kaggle với 782 mẫu thô ban đầu (2015–2019).</a:t>
            </a:r>
          </a:p>
          <a:p>
            <a:pPr>
              <a:spcBef>
                <a:spcPts val="500"/>
              </a:spcBef>
              <a:spcAft>
                <a:spcPts val="0"/>
              </a:spcAft>
              <a:defRPr sz="1600">
                <a:solidFill>
                  <a:srgbClr val="0F172A"/>
                </a:solidFill>
                <a:latin typeface="Arial"/>
              </a:defRPr>
            </a:pPr>
            <a:r>
              <a:t>• Bước 2: Đồng nhất Schema dị biệt qua COLUMN_MAPPING và loại bỏ sai số mẫu.</a:t>
            </a:r>
          </a:p>
          <a:p>
            <a:pPr>
              <a:spcBef>
                <a:spcPts val="500"/>
              </a:spcBef>
              <a:spcAft>
                <a:spcPts val="0"/>
              </a:spcAft>
              <a:defRPr sz="1600">
                <a:solidFill>
                  <a:srgbClr val="0F172A"/>
                </a:solidFill>
                <a:latin typeface="Arial"/>
              </a:defRPr>
            </a:pPr>
            <a:r>
              <a:t>• Bước 3: Kiểm tra khuyết thiếu, loại duy nhất UAE 2018 do thiếu 100% tham nhũng.</a:t>
            </a:r>
          </a:p>
          <a:p>
            <a:pPr>
              <a:spcBef>
                <a:spcPts val="500"/>
              </a:spcBef>
              <a:spcAft>
                <a:spcPts val="0"/>
              </a:spcAft>
              <a:defRPr sz="1600">
                <a:solidFill>
                  <a:srgbClr val="0F172A"/>
                </a:solidFill>
                <a:latin typeface="Arial"/>
              </a:defRPr>
            </a:pPr>
            <a:r>
              <a:t>• Bước 4: Chuẩn hóa tên quốc gia biến động (Macedonia...) và gắn mã địa lý ISO-3.</a:t>
            </a:r>
          </a:p>
          <a:p>
            <a:pPr>
              <a:spcBef>
                <a:spcPts val="500"/>
              </a:spcBef>
              <a:spcAft>
                <a:spcPts val="0"/>
              </a:spcAft>
              <a:defRPr sz="1600">
                <a:solidFill>
                  <a:srgbClr val="0F172A"/>
                </a:solidFill>
                <a:latin typeface="Arial"/>
              </a:defRPr>
            </a:pPr>
            <a:r>
              <a:t>• Bảo đảm tính tái lập: Tệp happiness_merged.csv sạch 100% không khuyết thiếu.</a:t>
            </a:r>
          </a:p>
        </p:txBody>
      </p:sp>
      <p:pic>
        <p:nvPicPr>
          <p:cNvPr id="6" name="Picture 5" descr="pipeline_preprocessing_flow.png"/>
          <p:cNvPicPr>
            <a:picLocks noChangeAspect="1"/>
          </p:cNvPicPr>
          <p:nvPr/>
        </p:nvPicPr>
        <p:blipFill>
          <a:blip r:embed="rId2"/>
          <a:stretch>
            <a:fillRect/>
          </a:stretch>
        </p:blipFill>
        <p:spPr>
          <a:xfrm>
            <a:off x="4846320" y="1463040"/>
            <a:ext cx="6613855" cy="4409237"/>
          </a:xfrm>
          <a:prstGeom prst="rect">
            <a:avLst/>
          </a:prstGeom>
        </p:spPr>
      </p:pic>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2: MINH CHỨNG DỮ LIỆU SẠCH 100%</a:t>
            </a:r>
          </a:p>
          <a:p>
            <a:pPr>
              <a:spcBef>
                <a:spcPts val="300"/>
              </a:spcBef>
              <a:defRPr sz="2350" b="1">
                <a:solidFill>
                  <a:srgbClr val="0F172A"/>
                </a:solidFill>
                <a:latin typeface="Arial"/>
              </a:defRPr>
            </a:pPr>
            <a:r>
              <a:t>KẾT QUẢ TIỀN XỬ LÝ VÀ TẬP DỮ LIỆU CHUẨN HÓA</a:t>
            </a:r>
          </a:p>
        </p:txBody>
      </p:sp>
      <p:sp>
        <p:nvSpPr>
          <p:cNvPr id="4" name="Rounded Rectangle 3"/>
          <p:cNvSpPr/>
          <p:nvPr/>
        </p:nvSpPr>
        <p:spPr>
          <a:xfrm>
            <a:off x="731520" y="1463040"/>
            <a:ext cx="3383280" cy="228600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3017520" cy="2286000"/>
          </a:xfrm>
          <a:prstGeom prst="rect">
            <a:avLst/>
          </a:prstGeom>
          <a:noFill/>
        </p:spPr>
        <p:txBody>
          <a:bodyPr wrap="square" anchor="ctr" lIns="0" tIns="0" rIns="0" bIns="0">
            <a:spAutoFit/>
          </a:bodyPr>
          <a:lstStyle/>
          <a:p>
            <a:pPr algn="ctr">
              <a:defRPr sz="4600" b="1">
                <a:solidFill>
                  <a:srgbClr val="059669"/>
                </a:solidFill>
                <a:latin typeface="Arial"/>
              </a:defRPr>
            </a:pPr>
            <a:r>
              <a:t>781</a:t>
            </a:r>
          </a:p>
          <a:p>
            <a:pPr algn="ctr">
              <a:spcBef>
                <a:spcPts val="600"/>
              </a:spcBef>
              <a:defRPr sz="1700" b="1">
                <a:solidFill>
                  <a:srgbClr val="0F172A"/>
                </a:solidFill>
                <a:latin typeface="Arial"/>
              </a:defRPr>
            </a:pPr>
            <a:r>
              <a:t>Bản ghi Sạch 100%</a:t>
            </a:r>
          </a:p>
          <a:p>
            <a:pPr algn="ctr">
              <a:spcBef>
                <a:spcPts val="400"/>
              </a:spcBef>
              <a:defRPr sz="1400">
                <a:solidFill>
                  <a:srgbClr val="64748B"/>
                </a:solidFill>
                <a:latin typeface="Arial"/>
              </a:defRPr>
            </a:pPr>
            <a:r>
              <a:t>Từ 782 mẫu thô; loại duy nhất UAE 2018; Tỷ lệ NaN = 0.0%</a:t>
            </a:r>
          </a:p>
        </p:txBody>
      </p:sp>
      <p:sp>
        <p:nvSpPr>
          <p:cNvPr id="6" name="Rounded Rectangle 5"/>
          <p:cNvSpPr/>
          <p:nvPr/>
        </p:nvSpPr>
        <p:spPr>
          <a:xfrm>
            <a:off x="731520" y="3977639"/>
            <a:ext cx="3383280" cy="233172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77639"/>
            <a:ext cx="3017520" cy="2331720"/>
          </a:xfrm>
          <a:prstGeom prst="rect">
            <a:avLst/>
          </a:prstGeom>
          <a:noFill/>
        </p:spPr>
        <p:txBody>
          <a:bodyPr wrap="square" anchor="ctr" lIns="0" tIns="0" rIns="0" bIns="0">
            <a:spAutoFit/>
          </a:bodyPr>
          <a:lstStyle/>
          <a:p>
            <a:pPr algn="ctr">
              <a:defRPr sz="4600" b="1">
                <a:solidFill>
                  <a:srgbClr val="0284C7"/>
                </a:solidFill>
                <a:latin typeface="Arial"/>
              </a:defRPr>
            </a:pPr>
            <a:r>
              <a:t>162</a:t>
            </a:r>
          </a:p>
          <a:p>
            <a:pPr algn="ctr">
              <a:spcBef>
                <a:spcPts val="600"/>
              </a:spcBef>
              <a:defRPr sz="1700" b="1">
                <a:solidFill>
                  <a:srgbClr val="0F172A"/>
                </a:solidFill>
                <a:latin typeface="Arial"/>
              </a:defRPr>
            </a:pPr>
            <a:r>
              <a:t>Mã Chuẩn hóa ISO-3</a:t>
            </a:r>
          </a:p>
          <a:p>
            <a:pPr algn="ctr">
              <a:spcBef>
                <a:spcPts val="400"/>
              </a:spcBef>
              <a:defRPr sz="1400">
                <a:solidFill>
                  <a:srgbClr val="64748B"/>
                </a:solidFill>
                <a:latin typeface="Arial"/>
              </a:defRPr>
            </a:pPr>
            <a:r>
              <a:t>164 quốc gia duy nhất qua 5 năm (đầy đủ mã tọa độ)</a:t>
            </a:r>
          </a:p>
        </p:txBody>
      </p:sp>
      <p:pic>
        <p:nvPicPr>
          <p:cNvPr id="8" name="Picture 7" descr="nb01_data_cleaning_head.png"/>
          <p:cNvPicPr>
            <a:picLocks noChangeAspect="1"/>
          </p:cNvPicPr>
          <p:nvPr/>
        </p:nvPicPr>
        <p:blipFill>
          <a:blip r:embed="rId2"/>
          <a:stretch>
            <a:fillRect/>
          </a:stretch>
        </p:blipFill>
        <p:spPr>
          <a:xfrm>
            <a:off x="4297680" y="1463040"/>
            <a:ext cx="7162495" cy="4638568"/>
          </a:xfrm>
          <a:prstGeom prst="rect">
            <a:avLst/>
          </a:prstGeom>
        </p:spPr>
      </p:pic>
    </p:spTree>
  </p:cSld>
  <p:clrMapOvr>
    <a:masterClrMapping/>
  </p:clrMapOvr>
  <p:transition spd="med" advClick="1">
    <p:push dir="l"/>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2 &amp; 3: PHÂN TÍCH KHÁM PHÁ</a:t>
            </a:r>
          </a:p>
          <a:p>
            <a:pPr>
              <a:spcBef>
                <a:spcPts val="300"/>
              </a:spcBef>
              <a:defRPr sz="2350" b="1">
                <a:solidFill>
                  <a:srgbClr val="0F172A"/>
                </a:solidFill>
                <a:latin typeface="Arial"/>
              </a:defRPr>
            </a:pPr>
            <a:r>
              <a:t>KHÁM PHÁ DỮ LIỆU (EDA) &amp; CƠ SỞ CHUẨN HÓA Z-SCORE</a:t>
            </a:r>
          </a:p>
        </p:txBody>
      </p:sp>
      <p:sp>
        <p:nvSpPr>
          <p:cNvPr id="4" name="Rounded Rectangle 3"/>
          <p:cNvSpPr/>
          <p:nvPr/>
        </p:nvSpPr>
        <p:spPr>
          <a:xfrm>
            <a:off x="731520" y="1463040"/>
            <a:ext cx="5120640"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4718304" cy="4846320"/>
          </a:xfrm>
          <a:prstGeom prst="rect">
            <a:avLst/>
          </a:prstGeom>
          <a:noFill/>
        </p:spPr>
        <p:txBody>
          <a:bodyPr wrap="square" anchor="ctr" lIns="0" tIns="0" rIns="0" bIns="0">
            <a:spAutoFit/>
          </a:bodyPr>
          <a:lstStyle/>
          <a:p>
            <a:pPr>
              <a:defRPr sz="1850" b="1">
                <a:solidFill>
                  <a:srgbClr val="2563EB"/>
                </a:solidFill>
                <a:latin typeface="Arial"/>
              </a:defRPr>
            </a:pPr>
            <a:r>
              <a:t>Phân tích Phân bố &amp; Quyết định Chuẩn hóa</a:t>
            </a:r>
          </a:p>
          <a:p>
            <a:pPr>
              <a:spcBef>
                <a:spcPts val="500"/>
              </a:spcBef>
              <a:spcAft>
                <a:spcPts val="0"/>
              </a:spcAft>
              <a:defRPr sz="1700">
                <a:solidFill>
                  <a:srgbClr val="0F172A"/>
                </a:solidFill>
                <a:latin typeface="Arial"/>
              </a:defRPr>
            </a:pPr>
            <a:r>
              <a:t>• Độ lệch dữ liệu mạnh: Chỉ số Tham nhũng (skewness = 1.52) và Hảo tâm (1.04) lệch phải rất mạnh.</a:t>
            </a:r>
          </a:p>
          <a:p>
            <a:pPr>
              <a:spcBef>
                <a:spcPts val="500"/>
              </a:spcBef>
              <a:spcAft>
                <a:spcPts val="0"/>
              </a:spcAft>
              <a:defRPr sz="1700">
                <a:solidFill>
                  <a:srgbClr val="0F172A"/>
                </a:solidFill>
                <a:latin typeface="Arial"/>
              </a:defRPr>
            </a:pPr>
            <a:r>
              <a:t>• Tương quan cao: GDP bình quân và Tuổi thọ khỏe mạnh có tương quan tuyến tính rất chặt chẽ (r = 0.79).</a:t>
            </a:r>
          </a:p>
          <a:p>
            <a:pPr>
              <a:spcBef>
                <a:spcPts val="500"/>
              </a:spcBef>
              <a:spcAft>
                <a:spcPts val="0"/>
              </a:spcAft>
              <a:defRPr sz="1700">
                <a:solidFill>
                  <a:srgbClr val="0F172A"/>
                </a:solidFill>
                <a:latin typeface="Arial"/>
              </a:defRPr>
            </a:pPr>
            <a:r>
              <a:t>• Ngoại lai rõ nét: Nhận diện nhiều điểm ngoại lai ở nhóm Bắc Âu (rất cao) và Châu Phi (rất thấp).</a:t>
            </a:r>
          </a:p>
          <a:p>
            <a:pPr>
              <a:spcBef>
                <a:spcPts val="500"/>
              </a:spcBef>
              <a:spcAft>
                <a:spcPts val="0"/>
              </a:spcAft>
              <a:defRPr sz="1700">
                <a:solidFill>
                  <a:srgbClr val="0F172A"/>
                </a:solidFill>
                <a:latin typeface="Arial"/>
              </a:defRPr>
            </a:pPr>
            <a:r>
              <a:t>• Tại sao chọn Z-score?: Min-Max bị nén do ngoại lai cực đại; Z-score đưa kỳ vọng về 0 và phương sai về 1, bảo đảm 6 đặc trưng đóng góp bình đẳng vào khoảng cách Euclid.</a:t>
            </a:r>
          </a:p>
        </p:txBody>
      </p:sp>
      <p:pic>
        <p:nvPicPr>
          <p:cNvPr id="6" name="Picture 5" descr="correlation_heatmap.png"/>
          <p:cNvPicPr>
            <a:picLocks noChangeAspect="1"/>
          </p:cNvPicPr>
          <p:nvPr/>
        </p:nvPicPr>
        <p:blipFill>
          <a:blip r:embed="rId2"/>
          <a:stretch>
            <a:fillRect/>
          </a:stretch>
        </p:blipFill>
        <p:spPr>
          <a:xfrm>
            <a:off x="6035040" y="1463040"/>
            <a:ext cx="5394960" cy="4836373"/>
          </a:xfrm>
          <a:prstGeom prst="rect">
            <a:avLst/>
          </a:prstGeom>
        </p:spPr>
      </p:pic>
    </p:spTree>
  </p:cSld>
  <p:clrMapOvr>
    <a:masterClrMapping/>
  </p:clrMapOvr>
  <p:transition spd="med" advClick="1">
    <p:push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3: MINH CHỨNG MÃ NGUỒN THỰC THI</a:t>
            </a:r>
          </a:p>
          <a:p>
            <a:pPr>
              <a:spcBef>
                <a:spcPts val="300"/>
              </a:spcBef>
              <a:defRPr sz="2350" b="1">
                <a:solidFill>
                  <a:srgbClr val="0F172A"/>
                </a:solidFill>
                <a:latin typeface="Arial"/>
              </a:defRPr>
            </a:pPr>
            <a:r>
              <a:t>CÀI ĐẶT THUẬT TOÁN GOM CỤM TỪ ĐẦU (FROM SCRATCH)</a:t>
            </a:r>
          </a:p>
        </p:txBody>
      </p:sp>
      <p:sp>
        <p:nvSpPr>
          <p:cNvPr id="4" name="Rounded Rectangle 3"/>
          <p:cNvSpPr/>
          <p:nvPr/>
        </p:nvSpPr>
        <p:spPr>
          <a:xfrm>
            <a:off x="731520" y="1463040"/>
            <a:ext cx="3931920" cy="484632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3529584" cy="4846320"/>
          </a:xfrm>
          <a:prstGeom prst="rect">
            <a:avLst/>
          </a:prstGeom>
          <a:noFill/>
        </p:spPr>
        <p:txBody>
          <a:bodyPr wrap="square" anchor="ctr" lIns="0" tIns="0" rIns="0" bIns="0">
            <a:spAutoFit/>
          </a:bodyPr>
          <a:lstStyle/>
          <a:p>
            <a:pPr>
              <a:defRPr sz="1850" b="1">
                <a:solidFill>
                  <a:srgbClr val="059669"/>
                </a:solidFill>
                <a:latin typeface="Arial"/>
              </a:defRPr>
            </a:pPr>
            <a:r>
              <a:t>Cài đặt Thuật toán From Scratch</a:t>
            </a:r>
          </a:p>
          <a:p>
            <a:pPr>
              <a:spcBef>
                <a:spcPts val="500"/>
              </a:spcBef>
              <a:spcAft>
                <a:spcPts val="0"/>
              </a:spcAft>
              <a:defRPr sz="1600">
                <a:solidFill>
                  <a:srgbClr val="0F172A"/>
                </a:solidFill>
                <a:latin typeface="Arial"/>
              </a:defRPr>
            </a:pPr>
            <a:r>
              <a:t>• SimpleKMeans: Khởi tạo thông minh K-Means++ với xác suất D(x)^2, lặp n_init = 10 lần tối ưu WCSS.</a:t>
            </a:r>
          </a:p>
          <a:p>
            <a:pPr>
              <a:spcBef>
                <a:spcPts val="500"/>
              </a:spcBef>
              <a:spcAft>
                <a:spcPts val="0"/>
              </a:spcAft>
              <a:defRPr sz="1600">
                <a:solidFill>
                  <a:srgbClr val="0F172A"/>
                </a:solidFill>
                <a:latin typeface="Arial"/>
              </a:defRPr>
            </a:pPr>
            <a:r>
              <a:t>• Phân cấp Ward: Cập nhật khoảng cách liên tục theo Lance-Williams, lưu vết lịch sử gộp.</a:t>
            </a:r>
          </a:p>
          <a:p>
            <a:pPr>
              <a:spcBef>
                <a:spcPts val="500"/>
              </a:spcBef>
              <a:spcAft>
                <a:spcPts val="0"/>
              </a:spcAft>
              <a:defRPr sz="1600">
                <a:solidFill>
                  <a:srgbClr val="0F172A"/>
                </a:solidFill>
                <a:latin typeface="Arial"/>
              </a:defRPr>
            </a:pPr>
            <a:r>
              <a:t>• Độ đo tự code: Tự lập trình 100% Silhouette s(i), Davies-Bouldin, Calinski-Harabasz và ARI.</a:t>
            </a:r>
          </a:p>
          <a:p>
            <a:pPr>
              <a:spcBef>
                <a:spcPts val="500"/>
              </a:spcBef>
              <a:spcAft>
                <a:spcPts val="0"/>
              </a:spcAft>
              <a:defRPr sz="1600">
                <a:solidFill>
                  <a:srgbClr val="0F172A"/>
                </a:solidFill>
                <a:latin typeface="Arial"/>
              </a:defRPr>
            </a:pPr>
            <a:r>
              <a:t>• Kiểm chứng đối chứng: Khớp hoàn toàn scikit-learn &amp; scipy với sai số &lt; 1e-4.</a:t>
            </a:r>
          </a:p>
        </p:txBody>
      </p:sp>
      <p:pic>
        <p:nvPicPr>
          <p:cNvPr id="6" name="Picture 5" descr="nb03_from_scratch_code.png"/>
          <p:cNvPicPr>
            <a:picLocks noChangeAspect="1"/>
          </p:cNvPicPr>
          <p:nvPr/>
        </p:nvPicPr>
        <p:blipFill>
          <a:blip r:embed="rId2"/>
          <a:stretch>
            <a:fillRect/>
          </a:stretch>
        </p:blipFill>
        <p:spPr>
          <a:xfrm>
            <a:off x="4846320" y="1463040"/>
            <a:ext cx="6613855" cy="4283258"/>
          </a:xfrm>
          <a:prstGeom prst="rect">
            <a:avLst/>
          </a:prstGeom>
        </p:spPr>
      </p:pic>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4: THỰC NGHIỆM ĐỘ NHẠY K</a:t>
            </a:r>
          </a:p>
          <a:p>
            <a:pPr>
              <a:spcBef>
                <a:spcPts val="300"/>
              </a:spcBef>
              <a:defRPr sz="2350" b="1">
                <a:solidFill>
                  <a:srgbClr val="0F172A"/>
                </a:solidFill>
                <a:latin typeface="Arial"/>
              </a:defRPr>
            </a:pPr>
            <a:r>
              <a:t>THẨM ĐỊNH SỐ CỤM TỐI ƯU k* = 3 ĐỒNG THUẬN 5 NĂM</a:t>
            </a:r>
          </a:p>
        </p:txBody>
      </p:sp>
      <p:pic>
        <p:nvPicPr>
          <p:cNvPr id="4" name="Picture 3" descr="elbow_silhouette_kmeans.png"/>
          <p:cNvPicPr>
            <a:picLocks noChangeAspect="1"/>
          </p:cNvPicPr>
          <p:nvPr/>
        </p:nvPicPr>
        <p:blipFill>
          <a:blip r:embed="rId2"/>
          <a:stretch>
            <a:fillRect/>
          </a:stretch>
        </p:blipFill>
        <p:spPr>
          <a:xfrm>
            <a:off x="731520" y="1463040"/>
            <a:ext cx="4754880" cy="1679601"/>
          </a:xfrm>
          <a:prstGeom prst="rect">
            <a:avLst/>
          </a:prstGeom>
        </p:spPr>
      </p:pic>
      <p:sp>
        <p:nvSpPr>
          <p:cNvPr id="5" name="Rounded Rectangle 4"/>
          <p:cNvSpPr/>
          <p:nvPr/>
        </p:nvSpPr>
        <p:spPr>
          <a:xfrm>
            <a:off x="731520" y="3566160"/>
            <a:ext cx="4754880" cy="27432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3566160"/>
            <a:ext cx="4352544" cy="2743200"/>
          </a:xfrm>
          <a:prstGeom prst="rect">
            <a:avLst/>
          </a:prstGeom>
          <a:noFill/>
        </p:spPr>
        <p:txBody>
          <a:bodyPr wrap="square" anchor="ctr" lIns="0" tIns="0" rIns="0" bIns="0">
            <a:spAutoFit/>
          </a:bodyPr>
          <a:lstStyle/>
          <a:p>
            <a:pPr>
              <a:defRPr sz="1750" b="1">
                <a:solidFill>
                  <a:srgbClr val="0284C7"/>
                </a:solidFill>
                <a:latin typeface="Arial"/>
              </a:defRPr>
            </a:pPr>
            <a:r>
              <a:t>Luận cứ Toán học Chốt k* = 3</a:t>
            </a:r>
          </a:p>
          <a:p>
            <a:pPr>
              <a:spcBef>
                <a:spcPts val="400"/>
              </a:spcBef>
              <a:spcAft>
                <a:spcPts val="0"/>
              </a:spcAft>
              <a:defRPr sz="1500">
                <a:solidFill>
                  <a:srgbClr val="0F172A"/>
                </a:solidFill>
                <a:latin typeface="Arial"/>
              </a:defRPr>
            </a:pPr>
            <a:r>
              <a:t>• Cả 5 năm (2015–2019) đồng thuận tuyệt đối tại k* = 3.</a:t>
            </a:r>
          </a:p>
          <a:p>
            <a:pPr>
              <a:spcBef>
                <a:spcPts val="400"/>
              </a:spcBef>
              <a:spcAft>
                <a:spcPts val="0"/>
              </a:spcAft>
              <a:defRPr sz="1500">
                <a:solidFill>
                  <a:srgbClr val="0F172A"/>
                </a:solidFill>
                <a:latin typeface="Arial"/>
              </a:defRPr>
            </a:pPr>
            <a:r>
              <a:t>• Silhouette đạt đỉnh cực đại (0.293 – 0.344).</a:t>
            </a:r>
          </a:p>
          <a:p>
            <a:pPr>
              <a:spcBef>
                <a:spcPts val="400"/>
              </a:spcBef>
              <a:spcAft>
                <a:spcPts val="0"/>
              </a:spcAft>
              <a:defRPr sz="1500">
                <a:solidFill>
                  <a:srgbClr val="0F172A"/>
                </a:solidFill>
                <a:latin typeface="Arial"/>
              </a:defRPr>
            </a:pPr>
            <a:r>
              <a:t>• Độ uốn Elbow rõ nét tại k=3 trước khi suy giảm quán tính WCSS.</a:t>
            </a:r>
          </a:p>
          <a:p>
            <a:pPr>
              <a:spcBef>
                <a:spcPts val="400"/>
              </a:spcBef>
              <a:spcAft>
                <a:spcPts val="0"/>
              </a:spcAft>
              <a:defRPr sz="1500">
                <a:solidFill>
                  <a:srgbClr val="0F172A"/>
                </a:solidFill>
                <a:latin typeface="Arial"/>
              </a:defRPr>
            </a:pPr>
            <a:r>
              <a:t>• Số cụm phản ánh hoàn hảo 3 nhóm trình độ kinh tế - xã hội.</a:t>
            </a:r>
          </a:p>
        </p:txBody>
      </p:sp>
      <p:pic>
        <p:nvPicPr>
          <p:cNvPr id="7" name="Picture 6" descr="excel_k_sensitivity.png"/>
          <p:cNvPicPr>
            <a:picLocks noChangeAspect="1"/>
          </p:cNvPicPr>
          <p:nvPr/>
        </p:nvPicPr>
        <p:blipFill>
          <a:blip r:embed="rId3"/>
          <a:stretch>
            <a:fillRect/>
          </a:stretch>
        </p:blipFill>
        <p:spPr>
          <a:xfrm>
            <a:off x="5669280" y="1463040"/>
            <a:ext cx="5790895" cy="3750294"/>
          </a:xfrm>
          <a:prstGeom prst="rect">
            <a:avLst/>
          </a:prstGeom>
        </p:spPr>
      </p:pic>
    </p:spTree>
  </p:cSld>
  <p:clrMapOvr>
    <a:masterClrMapping/>
  </p:clrMapOvr>
  <p:transition spd="med" advClick="1">
    <p:push dir="l"/>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4: BẢNG ĐỐI CHỨNG HIỆU NĂNG THỰC TẾ</a:t>
            </a:r>
          </a:p>
          <a:p>
            <a:pPr>
              <a:spcBef>
                <a:spcPts val="300"/>
              </a:spcBef>
              <a:defRPr sz="2350" b="1">
                <a:solidFill>
                  <a:srgbClr val="0F172A"/>
                </a:solidFill>
                <a:latin typeface="Arial"/>
              </a:defRPr>
            </a:pPr>
            <a:r>
              <a:t>SO SÁNH ĐỐI CHỨNG CÁC THUẬT TOÁN GOM CỤM</a:t>
            </a:r>
          </a:p>
        </p:txBody>
      </p:sp>
      <p:sp>
        <p:nvSpPr>
          <p:cNvPr id="4" name="Rounded Rectangle 3"/>
          <p:cNvSpPr/>
          <p:nvPr/>
        </p:nvSpPr>
        <p:spPr>
          <a:xfrm>
            <a:off x="731520" y="1463040"/>
            <a:ext cx="3931920" cy="484632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3529584" cy="4846320"/>
          </a:xfrm>
          <a:prstGeom prst="rect">
            <a:avLst/>
          </a:prstGeom>
          <a:noFill/>
        </p:spPr>
        <p:txBody>
          <a:bodyPr wrap="square" anchor="ctr" lIns="0" tIns="0" rIns="0" bIns="0">
            <a:spAutoFit/>
          </a:bodyPr>
          <a:lstStyle/>
          <a:p>
            <a:pPr>
              <a:defRPr sz="1850" b="1">
                <a:solidFill>
                  <a:srgbClr val="0284C7"/>
                </a:solidFill>
                <a:latin typeface="Arial"/>
              </a:defRPr>
            </a:pPr>
            <a:r>
              <a:t>Quyết định Lựa chọn Mô hình</a:t>
            </a:r>
          </a:p>
          <a:p>
            <a:pPr>
              <a:spcBef>
                <a:spcPts val="500"/>
              </a:spcBef>
              <a:spcAft>
                <a:spcPts val="0"/>
              </a:spcAft>
              <a:defRPr sz="1600">
                <a:solidFill>
                  <a:srgbClr val="0F172A"/>
                </a:solidFill>
                <a:latin typeface="Arial"/>
              </a:defRPr>
            </a:pPr>
            <a:r>
              <a:t>• K-Means (Z-score): Toàn diện nhất với Silhouette 0.293–0.344 và Calinski-Harabasz cao nhất (86.02).</a:t>
            </a:r>
          </a:p>
          <a:p>
            <a:pPr>
              <a:spcBef>
                <a:spcPts val="500"/>
              </a:spcBef>
              <a:spcAft>
                <a:spcPts val="0"/>
              </a:spcAft>
              <a:defRPr sz="1600">
                <a:solidFill>
                  <a:srgbClr val="0F172A"/>
                </a:solidFill>
                <a:latin typeface="Arial"/>
              </a:defRPr>
            </a:pPr>
            <a:r>
              <a:t>• Phân cấp Ward (Z-score): Thuật toán tất định, kiểm chứng tính khách quan của ranh giới cụm (Silhouette 0.310).</a:t>
            </a:r>
          </a:p>
          <a:p>
            <a:pPr>
              <a:spcBef>
                <a:spcPts val="500"/>
              </a:spcBef>
              <a:spcAft>
                <a:spcPts val="0"/>
              </a:spcAft>
              <a:defRPr sz="1600">
                <a:solidFill>
                  <a:srgbClr val="0F172A"/>
                </a:solidFill>
                <a:latin typeface="Arial"/>
              </a:defRPr>
            </a:pPr>
            <a:r>
              <a:t>• DBSCAN không khả thi: Mật độ biến thiên liên tục khiến DBSCAN coi 28 quốc gia thành nhiễu, điểm âm.</a:t>
            </a:r>
          </a:p>
          <a:p>
            <a:pPr>
              <a:spcBef>
                <a:spcPts val="500"/>
              </a:spcBef>
              <a:spcAft>
                <a:spcPts val="0"/>
              </a:spcAft>
              <a:defRPr sz="1600">
                <a:solidFill>
                  <a:srgbClr val="0F172A"/>
                </a:solidFill>
                <a:latin typeface="Arial"/>
              </a:defRPr>
            </a:pPr>
            <a:r>
              <a:t>• Chốt phương án: Chọn K-Means làm thuật toán phân nhóm chính, Ward làm đối chứng.</a:t>
            </a:r>
          </a:p>
        </p:txBody>
      </p:sp>
      <p:pic>
        <p:nvPicPr>
          <p:cNvPr id="6" name="Picture 5" descr="excel_model_comparison.png"/>
          <p:cNvPicPr>
            <a:picLocks noChangeAspect="1"/>
          </p:cNvPicPr>
          <p:nvPr/>
        </p:nvPicPr>
        <p:blipFill>
          <a:blip r:embed="rId2"/>
          <a:stretch>
            <a:fillRect/>
          </a:stretch>
        </p:blipFill>
        <p:spPr>
          <a:xfrm>
            <a:off x="4846320" y="1463040"/>
            <a:ext cx="6613855" cy="4283258"/>
          </a:xfrm>
          <a:prstGeom prst="rect">
            <a:avLst/>
          </a:prstGeom>
        </p:spPr>
      </p:pic>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4: BẢNG ĐO LƯỜNG SEEDS NGẪU NHIÊN</a:t>
            </a:r>
          </a:p>
          <a:p>
            <a:pPr>
              <a:spcBef>
                <a:spcPts val="300"/>
              </a:spcBef>
              <a:defRPr sz="2350" b="1">
                <a:solidFill>
                  <a:srgbClr val="0F172A"/>
                </a:solidFill>
                <a:latin typeface="Arial"/>
              </a:defRPr>
            </a:pPr>
            <a:r>
              <a:t>KIỂM ĐỊNH ĐỘ ỔN ĐỊNH MÔ HÌNH (STABILITY EVALUATION)</a:t>
            </a:r>
          </a:p>
        </p:txBody>
      </p:sp>
      <p:sp>
        <p:nvSpPr>
          <p:cNvPr id="4" name="Rounded Rectangle 3"/>
          <p:cNvSpPr/>
          <p:nvPr/>
        </p:nvSpPr>
        <p:spPr>
          <a:xfrm>
            <a:off x="731520" y="1463040"/>
            <a:ext cx="3383280" cy="484632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3017520" cy="4846320"/>
          </a:xfrm>
          <a:prstGeom prst="rect">
            <a:avLst/>
          </a:prstGeom>
          <a:noFill/>
        </p:spPr>
        <p:txBody>
          <a:bodyPr wrap="square" anchor="ctr" lIns="0" tIns="0" rIns="0" bIns="0">
            <a:spAutoFit/>
          </a:bodyPr>
          <a:lstStyle/>
          <a:p>
            <a:pPr algn="ctr">
              <a:defRPr sz="4600" b="1">
                <a:solidFill>
                  <a:srgbClr val="059669"/>
                </a:solidFill>
                <a:latin typeface="Arial"/>
              </a:defRPr>
            </a:pPr>
            <a:r>
              <a:t>0.98 – 1.00</a:t>
            </a:r>
          </a:p>
          <a:p>
            <a:pPr algn="ctr">
              <a:spcBef>
                <a:spcPts val="600"/>
              </a:spcBef>
              <a:defRPr sz="1700" b="1">
                <a:solidFill>
                  <a:srgbClr val="0F172A"/>
                </a:solidFill>
                <a:latin typeface="Arial"/>
              </a:defRPr>
            </a:pPr>
            <a:r>
              <a:t>Adjusted Rand Index (ARI)</a:t>
            </a:r>
          </a:p>
          <a:p>
            <a:pPr algn="ctr">
              <a:spcBef>
                <a:spcPts val="400"/>
              </a:spcBef>
              <a:defRPr sz="1400">
                <a:solidFill>
                  <a:srgbClr val="64748B"/>
                </a:solidFill>
                <a:latin typeface="Arial"/>
              </a:defRPr>
            </a:pPr>
            <a:r>
              <a:t>Khảo sát trên 10 Random Seeds ngẫu nhiên độc lập mỗi năm; thuật toán hội tụ tuyệt đối sau &lt; 1.0s</a:t>
            </a:r>
          </a:p>
        </p:txBody>
      </p:sp>
      <p:pic>
        <p:nvPicPr>
          <p:cNvPr id="6" name="Picture 5" descr="excel_stability_ari.png"/>
          <p:cNvPicPr>
            <a:picLocks noChangeAspect="1"/>
          </p:cNvPicPr>
          <p:nvPr/>
        </p:nvPicPr>
        <p:blipFill>
          <a:blip r:embed="rId2"/>
          <a:stretch>
            <a:fillRect/>
          </a:stretch>
        </p:blipFill>
        <p:spPr>
          <a:xfrm>
            <a:off x="4297680" y="1463040"/>
            <a:ext cx="7162495" cy="4638568"/>
          </a:xfrm>
          <a:prstGeom prst="rect">
            <a:avLst/>
          </a:prstGeom>
        </p:spPr>
      </p:pic>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5: HÌNH MẠNG NHỆN RADAR 6 CHIỀU</a:t>
            </a:r>
          </a:p>
          <a:p>
            <a:pPr>
              <a:spcBef>
                <a:spcPts val="300"/>
              </a:spcBef>
              <a:defRPr sz="2350" b="1">
                <a:solidFill>
                  <a:srgbClr val="0F172A"/>
                </a:solidFill>
                <a:latin typeface="Arial"/>
              </a:defRPr>
            </a:pPr>
            <a:r>
              <a:t>XÂY DỰNG CHÂN DUNG 3 CỤM KINH TẾ — XÃ HỘI</a:t>
            </a:r>
          </a:p>
        </p:txBody>
      </p:sp>
      <p:sp>
        <p:nvSpPr>
          <p:cNvPr id="4" name="Rounded Rectangle 3"/>
          <p:cNvSpPr/>
          <p:nvPr/>
        </p:nvSpPr>
        <p:spPr>
          <a:xfrm>
            <a:off x="731520" y="1463040"/>
            <a:ext cx="4754880" cy="150876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4352544" cy="1508760"/>
          </a:xfrm>
          <a:prstGeom prst="rect">
            <a:avLst/>
          </a:prstGeom>
          <a:noFill/>
        </p:spPr>
        <p:txBody>
          <a:bodyPr wrap="square" anchor="ctr" lIns="0" tIns="0" rIns="0" bIns="0">
            <a:spAutoFit/>
          </a:bodyPr>
          <a:lstStyle/>
          <a:p>
            <a:pPr>
              <a:defRPr sz="1750" b="1">
                <a:solidFill>
                  <a:srgbClr val="059669"/>
                </a:solidFill>
                <a:latin typeface="Arial"/>
              </a:defRPr>
            </a:pPr>
            <a:r>
              <a:t>Cụm 1: Phát triển Toàn diện (24–29 nước)</a:t>
            </a:r>
          </a:p>
          <a:p>
            <a:pPr>
              <a:spcBef>
                <a:spcPts val="400"/>
              </a:spcBef>
              <a:spcAft>
                <a:spcPts val="0"/>
              </a:spcAft>
              <a:defRPr sz="1550">
                <a:solidFill>
                  <a:srgbClr val="0F172A"/>
                </a:solidFill>
                <a:latin typeface="Arial"/>
              </a:defRPr>
            </a:pPr>
            <a:r>
              <a:t>• Vượt trội về GDP, Tuổi thọ, An sinh và Minh bạch (Bắc Âu, Tây Âu, ANZ).</a:t>
            </a:r>
          </a:p>
        </p:txBody>
      </p:sp>
      <p:sp>
        <p:nvSpPr>
          <p:cNvPr id="6" name="Rounded Rectangle 5"/>
          <p:cNvSpPr/>
          <p:nvPr/>
        </p:nvSpPr>
        <p:spPr>
          <a:xfrm>
            <a:off x="731520" y="3127248"/>
            <a:ext cx="4754880" cy="150876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3127248"/>
            <a:ext cx="4352544" cy="1508760"/>
          </a:xfrm>
          <a:prstGeom prst="rect">
            <a:avLst/>
          </a:prstGeom>
          <a:noFill/>
        </p:spPr>
        <p:txBody>
          <a:bodyPr wrap="square" anchor="ctr" lIns="0" tIns="0" rIns="0" bIns="0">
            <a:spAutoFit/>
          </a:bodyPr>
          <a:lstStyle/>
          <a:p>
            <a:pPr>
              <a:defRPr sz="1750" b="1">
                <a:solidFill>
                  <a:srgbClr val="2563EB"/>
                </a:solidFill>
                <a:latin typeface="Arial"/>
              </a:defRPr>
            </a:pPr>
            <a:r>
              <a:t>Cụm 2: Đang phát triển (79–85 nước)</a:t>
            </a:r>
          </a:p>
          <a:p>
            <a:pPr>
              <a:spcBef>
                <a:spcPts val="400"/>
              </a:spcBef>
              <a:spcAft>
                <a:spcPts val="0"/>
              </a:spcAft>
              <a:defRPr sz="1550">
                <a:solidFill>
                  <a:srgbClr val="0F172A"/>
                </a:solidFill>
                <a:latin typeface="Arial"/>
              </a:defRPr>
            </a:pPr>
            <a:r>
              <a:t>• Kinh tế &amp; Tuổi thọ khá; Thể chế và Hảo tâm còn nhiều điểm nghẽn (Việt Nam, ĐNA).</a:t>
            </a:r>
          </a:p>
        </p:txBody>
      </p:sp>
      <p:sp>
        <p:nvSpPr>
          <p:cNvPr id="8" name="Rounded Rectangle 7"/>
          <p:cNvSpPr/>
          <p:nvPr/>
        </p:nvSpPr>
        <p:spPr>
          <a:xfrm>
            <a:off x="731520" y="4791456"/>
            <a:ext cx="4754880" cy="1508760"/>
          </a:xfrm>
          <a:prstGeom prst="roundRect">
            <a:avLst/>
          </a:prstGeom>
          <a:solidFill>
            <a:srgbClr val="F8FAFC"/>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4791456"/>
            <a:ext cx="4352544" cy="1508760"/>
          </a:xfrm>
          <a:prstGeom prst="rect">
            <a:avLst/>
          </a:prstGeom>
          <a:noFill/>
        </p:spPr>
        <p:txBody>
          <a:bodyPr wrap="square" anchor="ctr" lIns="0" tIns="0" rIns="0" bIns="0">
            <a:spAutoFit/>
          </a:bodyPr>
          <a:lstStyle/>
          <a:p>
            <a:pPr>
              <a:defRPr sz="1750" b="1">
                <a:solidFill>
                  <a:srgbClr val="DC2626"/>
                </a:solidFill>
                <a:latin typeface="Arial"/>
              </a:defRPr>
            </a:pPr>
            <a:r>
              <a:t>Cụm 3: Khó khăn &amp; Tổn thương (46–50 nước)</a:t>
            </a:r>
          </a:p>
          <a:p>
            <a:pPr>
              <a:spcBef>
                <a:spcPts val="400"/>
              </a:spcBef>
              <a:spcAft>
                <a:spcPts val="0"/>
              </a:spcAft>
              <a:defRPr sz="1550">
                <a:solidFill>
                  <a:srgbClr val="0F172A"/>
                </a:solidFill>
                <a:latin typeface="Arial"/>
              </a:defRPr>
            </a:pPr>
            <a:r>
              <a:t>• Điểm rất thấp ở an sinh xã hội và y tế cơ sở (Châu Phi hạ Sahara, Xung đột).</a:t>
            </a:r>
          </a:p>
        </p:txBody>
      </p:sp>
      <p:pic>
        <p:nvPicPr>
          <p:cNvPr id="10" name="Picture 9" descr="radar_chart_2019.png"/>
          <p:cNvPicPr>
            <a:picLocks noChangeAspect="1"/>
          </p:cNvPicPr>
          <p:nvPr/>
        </p:nvPicPr>
        <p:blipFill>
          <a:blip r:embed="rId2"/>
          <a:stretch>
            <a:fillRect/>
          </a:stretch>
        </p:blipFill>
        <p:spPr>
          <a:xfrm>
            <a:off x="5760720" y="1463040"/>
            <a:ext cx="5699455" cy="3264233"/>
          </a:xfrm>
          <a:prstGeom prst="rect">
            <a:avLst/>
          </a:prstGeom>
        </p:spPr>
      </p:pic>
    </p:spTree>
  </p:cSld>
  <p:clrMapOvr>
    <a:masterClrMapping/>
  </p:clrMapOvr>
  <p:transition spd="med" advClick="1">
    <p:push dir="l"/>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5: HẬU KIỂM THỐNG KÊ ANOVA</a:t>
            </a:r>
          </a:p>
          <a:p>
            <a:pPr>
              <a:spcBef>
                <a:spcPts val="300"/>
              </a:spcBef>
              <a:defRPr sz="2350" b="1">
                <a:solidFill>
                  <a:srgbClr val="0F172A"/>
                </a:solidFill>
                <a:latin typeface="Arial"/>
              </a:defRPr>
            </a:pPr>
            <a:r>
              <a:t>HẬU KIỂM ĐỘC LẬP VỚI ĐIỂM HẠNH PHÚC THỰC TẾ</a:t>
            </a:r>
          </a:p>
        </p:txBody>
      </p:sp>
      <p:sp>
        <p:nvSpPr>
          <p:cNvPr id="4" name="Rounded Rectangle 3"/>
          <p:cNvSpPr/>
          <p:nvPr/>
        </p:nvSpPr>
        <p:spPr>
          <a:xfrm>
            <a:off x="731520" y="1463040"/>
            <a:ext cx="5120640" cy="484632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4718304" cy="4846320"/>
          </a:xfrm>
          <a:prstGeom prst="rect">
            <a:avLst/>
          </a:prstGeom>
          <a:noFill/>
        </p:spPr>
        <p:txBody>
          <a:bodyPr wrap="square" anchor="ctr" lIns="0" tIns="0" rIns="0" bIns="0">
            <a:spAutoFit/>
          </a:bodyPr>
          <a:lstStyle/>
          <a:p>
            <a:pPr>
              <a:defRPr sz="1800" b="1">
                <a:solidFill>
                  <a:srgbClr val="D97706"/>
                </a:solidFill>
                <a:latin typeface="Arial"/>
              </a:defRPr>
            </a:pPr>
            <a:r>
              <a:t>Kiểm định Thống kê ANOVA Một nhân tố</a:t>
            </a:r>
          </a:p>
          <a:p>
            <a:pPr>
              <a:spcBef>
                <a:spcPts val="400"/>
              </a:spcBef>
              <a:spcAft>
                <a:spcPts val="0"/>
              </a:spcAft>
              <a:defRPr sz="1500">
                <a:solidFill>
                  <a:srgbClr val="0F172A"/>
                </a:solidFill>
                <a:latin typeface="Arial"/>
              </a:defRPr>
            </a:pPr>
            <a:r>
              <a:t>• Quy tắc vàng: Tuyệt đối không dùng Happiness Score để gom cụm; chỉ dùng ở bước hậu kiểm độc lập.</a:t>
            </a:r>
          </a:p>
          <a:p>
            <a:pPr>
              <a:spcBef>
                <a:spcPts val="400"/>
              </a:spcBef>
              <a:spcAft>
                <a:spcPts val="0"/>
              </a:spcAft>
              <a:defRPr sz="1500">
                <a:solidFill>
                  <a:srgbClr val="0F172A"/>
                </a:solidFill>
                <a:latin typeface="Arial"/>
              </a:defRPr>
            </a:pPr>
            <a:r>
              <a:t>• Phân hóa sâu sắc giữa 3 cụm:</a:t>
            </a:r>
          </a:p>
          <a:p>
            <a:pPr>
              <a:spcBef>
                <a:spcPts val="400"/>
              </a:spcBef>
              <a:spcAft>
                <a:spcPts val="0"/>
              </a:spcAft>
              <a:defRPr sz="1500">
                <a:solidFill>
                  <a:srgbClr val="0F172A"/>
                </a:solidFill>
                <a:latin typeface="Arial"/>
              </a:defRPr>
            </a:pPr>
            <a:r>
              <a:t>•   • Cụm 1: Trung bình đạt 6.73 – 6.85 điểm</a:t>
            </a:r>
          </a:p>
          <a:p>
            <a:pPr>
              <a:spcBef>
                <a:spcPts val="400"/>
              </a:spcBef>
              <a:spcAft>
                <a:spcPts val="0"/>
              </a:spcAft>
              <a:defRPr sz="1500">
                <a:solidFill>
                  <a:srgbClr val="0F172A"/>
                </a:solidFill>
                <a:latin typeface="Arial"/>
              </a:defRPr>
            </a:pPr>
            <a:r>
              <a:t>•   • Cụm 2: Trung bình đạt 5.57 – 5.61 điểm</a:t>
            </a:r>
          </a:p>
          <a:p>
            <a:pPr>
              <a:spcBef>
                <a:spcPts val="400"/>
              </a:spcBef>
              <a:spcAft>
                <a:spcPts val="0"/>
              </a:spcAft>
              <a:defRPr sz="1500">
                <a:solidFill>
                  <a:srgbClr val="0F172A"/>
                </a:solidFill>
                <a:latin typeface="Arial"/>
              </a:defRPr>
            </a:pPr>
            <a:r>
              <a:t>•   • Cụm 3: Trung bình đạt 4.10 – 4.26 điểm</a:t>
            </a:r>
          </a:p>
          <a:p>
            <a:pPr>
              <a:spcBef>
                <a:spcPts val="400"/>
              </a:spcBef>
              <a:spcAft>
                <a:spcPts val="0"/>
              </a:spcAft>
              <a:defRPr sz="1500">
                <a:solidFill>
                  <a:srgbClr val="0F172A"/>
                </a:solidFill>
                <a:latin typeface="Arial"/>
              </a:defRPr>
            </a:pPr>
            <a:r>
              <a:t>• Chênh lệch điểm số: Khoảng cách Cụm 1 và Cụm 3 lên tới 2.5 – 2.7 điểm trên thang đo 10.</a:t>
            </a:r>
          </a:p>
          <a:p>
            <a:pPr>
              <a:spcBef>
                <a:spcPts val="400"/>
              </a:spcBef>
              <a:spcAft>
                <a:spcPts val="0"/>
              </a:spcAft>
              <a:defRPr sz="1500">
                <a:solidFill>
                  <a:srgbClr val="0F172A"/>
                </a:solidFill>
                <a:latin typeface="Arial"/>
              </a:defRPr>
            </a:pPr>
            <a:r>
              <a:t>• Kiểm định ANOVA F = 107.09 – 159.18 qua 5 năm (p-value &lt; 1e-15), khẳng định 6 yếu tố khách quan phản ánh hoàn hảo cảm nhận hạnh phúc thực tế.</a:t>
            </a:r>
          </a:p>
        </p:txBody>
      </p:sp>
      <p:pic>
        <p:nvPicPr>
          <p:cNvPr id="6" name="Picture 5" descr="validation_happiness_score_2019.png"/>
          <p:cNvPicPr>
            <a:picLocks noChangeAspect="1"/>
          </p:cNvPicPr>
          <p:nvPr/>
        </p:nvPicPr>
        <p:blipFill>
          <a:blip r:embed="rId2"/>
          <a:stretch>
            <a:fillRect/>
          </a:stretch>
        </p:blipFill>
        <p:spPr>
          <a:xfrm>
            <a:off x="6035040" y="1463040"/>
            <a:ext cx="5394960" cy="3308854"/>
          </a:xfrm>
          <a:prstGeom prst="rect">
            <a:avLst/>
          </a:prstGeom>
        </p:spPr>
      </p:pic>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5: BẢNG TRÍCH XUẤT QUỐC GIA BIẾN ĐỘNG</a:t>
            </a:r>
          </a:p>
          <a:p>
            <a:pPr>
              <a:spcBef>
                <a:spcPts val="300"/>
              </a:spcBef>
              <a:defRPr sz="2350" b="1">
                <a:solidFill>
                  <a:srgbClr val="0F172A"/>
                </a:solidFill>
                <a:latin typeface="Arial"/>
              </a:defRPr>
            </a:pPr>
            <a:r>
              <a:t>THEO DÕI DỊCH CHUYỂN CỤM 156 QUỐC GIA QUA 5 NĂM</a:t>
            </a:r>
          </a:p>
        </p:txBody>
      </p:sp>
      <p:sp>
        <p:nvSpPr>
          <p:cNvPr id="4" name="Rounded Rectangle 3"/>
          <p:cNvSpPr/>
          <p:nvPr/>
        </p:nvSpPr>
        <p:spPr>
          <a:xfrm>
            <a:off x="731520" y="1463040"/>
            <a:ext cx="3383280" cy="484632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3017520" cy="4846320"/>
          </a:xfrm>
          <a:prstGeom prst="rect">
            <a:avLst/>
          </a:prstGeom>
          <a:noFill/>
        </p:spPr>
        <p:txBody>
          <a:bodyPr wrap="square" anchor="ctr" lIns="0" tIns="0" rIns="0" bIns="0">
            <a:spAutoFit/>
          </a:bodyPr>
          <a:lstStyle/>
          <a:p>
            <a:pPr algn="ctr">
              <a:defRPr sz="4600" b="1">
                <a:solidFill>
                  <a:srgbClr val="059669"/>
                </a:solidFill>
                <a:latin typeface="Arial"/>
              </a:defRPr>
            </a:pPr>
            <a:r>
              <a:t>91.0%</a:t>
            </a:r>
          </a:p>
          <a:p>
            <a:pPr algn="ctr">
              <a:spcBef>
                <a:spcPts val="600"/>
              </a:spcBef>
              <a:defRPr sz="1700" b="1">
                <a:solidFill>
                  <a:srgbClr val="0F172A"/>
                </a:solidFill>
                <a:latin typeface="Arial"/>
              </a:defRPr>
            </a:pPr>
            <a:r>
              <a:t>Quốc gia Ổn định Tuyệt đối</a:t>
            </a:r>
          </a:p>
          <a:p>
            <a:pPr algn="ctr">
              <a:spcBef>
                <a:spcPts val="400"/>
              </a:spcBef>
              <a:defRPr sz="1400">
                <a:solidFill>
                  <a:srgbClr val="64748B"/>
                </a:solidFill>
                <a:latin typeface="Arial"/>
              </a:defRPr>
            </a:pPr>
            <a:r>
              <a:t>142 / 156 quốc gia giữ vững nhóm cụm suốt nửa thập kỷ (2015–2019). Cấu trúc hạnh phúc có quán tính thể chế cao.</a:t>
            </a:r>
          </a:p>
        </p:txBody>
      </p:sp>
      <p:pic>
        <p:nvPicPr>
          <p:cNvPr id="6" name="Picture 5" descr="excel_country_shift.png"/>
          <p:cNvPicPr>
            <a:picLocks noChangeAspect="1"/>
          </p:cNvPicPr>
          <p:nvPr/>
        </p:nvPicPr>
        <p:blipFill>
          <a:blip r:embed="rId2"/>
          <a:stretch>
            <a:fillRect/>
          </a:stretch>
        </p:blipFill>
        <p:spPr>
          <a:xfrm>
            <a:off x="4297680" y="1463040"/>
            <a:ext cx="7162495" cy="4638568"/>
          </a:xfrm>
          <a:prstGeom prst="rect">
            <a:avLst/>
          </a:prstGeom>
        </p:spPr>
      </p:pic>
    </p:spTree>
  </p:cSld>
  <p:clrMapOvr>
    <a:masterClrMapping/>
  </p:clrMapOvr>
  <p:transition spd="med" advClick="1">
    <p:push dir="l"/>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5: SẢN PHẨM ỨNG DỤNG</a:t>
            </a:r>
          </a:p>
          <a:p>
            <a:pPr>
              <a:spcBef>
                <a:spcPts val="300"/>
              </a:spcBef>
              <a:defRPr sz="2350" b="1">
                <a:solidFill>
                  <a:srgbClr val="0F172A"/>
                </a:solidFill>
                <a:latin typeface="Arial"/>
              </a:defRPr>
            </a:pPr>
            <a:r>
              <a:t>TRỰC QUAN HÓA TƯƠNG TÁC — ỨNG DỤNG STREAMLIT 4 TAB</a:t>
            </a:r>
          </a:p>
        </p:txBody>
      </p:sp>
      <p:pic>
        <p:nvPicPr>
          <p:cNvPr id="4" name="Picture 3" descr="demo_app_overview.png"/>
          <p:cNvPicPr>
            <a:picLocks noChangeAspect="1"/>
          </p:cNvPicPr>
          <p:nvPr/>
        </p:nvPicPr>
        <p:blipFill>
          <a:blip r:embed="rId2"/>
          <a:stretch>
            <a:fillRect/>
          </a:stretch>
        </p:blipFill>
        <p:spPr>
          <a:xfrm>
            <a:off x="731520" y="1463040"/>
            <a:ext cx="5212080" cy="3405226"/>
          </a:xfrm>
          <a:prstGeom prst="rect">
            <a:avLst/>
          </a:prstGeom>
        </p:spPr>
      </p:pic>
      <p:sp>
        <p:nvSpPr>
          <p:cNvPr id="5" name="Rounded Rectangle 4"/>
          <p:cNvSpPr/>
          <p:nvPr/>
        </p:nvSpPr>
        <p:spPr>
          <a:xfrm>
            <a:off x="6217920" y="1463040"/>
            <a:ext cx="5242255" cy="484632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19088" y="1463040"/>
            <a:ext cx="4839919" cy="4846320"/>
          </a:xfrm>
          <a:prstGeom prst="rect">
            <a:avLst/>
          </a:prstGeom>
          <a:noFill/>
        </p:spPr>
        <p:txBody>
          <a:bodyPr wrap="square" anchor="ctr" lIns="0" tIns="0" rIns="0" bIns="0">
            <a:spAutoFit/>
          </a:bodyPr>
          <a:lstStyle/>
          <a:p>
            <a:pPr>
              <a:defRPr sz="1800" b="1">
                <a:solidFill>
                  <a:srgbClr val="0284C7"/>
                </a:solidFill>
                <a:latin typeface="Arial"/>
              </a:defRPr>
            </a:pPr>
            <a:r>
              <a:t>4 Tab Chức năng Chuyên sâu</a:t>
            </a:r>
          </a:p>
          <a:p>
            <a:pPr>
              <a:spcBef>
                <a:spcPts val="400"/>
              </a:spcBef>
              <a:spcAft>
                <a:spcPts val="0"/>
              </a:spcAft>
              <a:defRPr sz="1500">
                <a:solidFill>
                  <a:srgbClr val="0F172A"/>
                </a:solidFill>
                <a:latin typeface="Arial"/>
              </a:defRPr>
            </a:pPr>
            <a:r>
              <a:t>• Tab 1: Tổng quan cụm &amp; Radar Chart: Trực quan hóa hình mạng nhện so sánh 6 yếu tố, xem thẻ chỉ số KPI Silhouette, DB, CH theo từng năm.</a:t>
            </a:r>
          </a:p>
          <a:p>
            <a:pPr>
              <a:spcBef>
                <a:spcPts val="400"/>
              </a:spcBef>
              <a:spcAft>
                <a:spcPts val="0"/>
              </a:spcAft>
              <a:defRPr sz="1500">
                <a:solidFill>
                  <a:srgbClr val="0F172A"/>
                </a:solidFill>
                <a:latin typeface="Arial"/>
              </a:defRPr>
            </a:pPr>
            <a:r>
              <a:t>• Tab 2: Bản đồ Thế giới: Bản đồ Choropleth tương tác toàn cầu tô màu theo mã ISO-3, rê chuột xem chi tiết nhóm cụm.</a:t>
            </a:r>
          </a:p>
          <a:p>
            <a:pPr>
              <a:spcBef>
                <a:spcPts val="400"/>
              </a:spcBef>
              <a:spcAft>
                <a:spcPts val="0"/>
              </a:spcAft>
              <a:defRPr sz="1500">
                <a:solidFill>
                  <a:srgbClr val="0F172A"/>
                </a:solidFill>
                <a:latin typeface="Arial"/>
              </a:defRPr>
            </a:pPr>
            <a:r>
              <a:t>• Tab 3: Tra cứu Quốc gia: Xem tiến trình 5 năm chi tiết của 156 nước (như Việt Nam), đồ thị biến thiên 6 chỉ số.</a:t>
            </a:r>
          </a:p>
          <a:p>
            <a:pPr>
              <a:spcBef>
                <a:spcPts val="400"/>
              </a:spcBef>
              <a:spcAft>
                <a:spcPts val="0"/>
              </a:spcAft>
              <a:defRPr sz="1500">
                <a:solidFill>
                  <a:srgbClr val="0F172A"/>
                </a:solidFill>
                <a:latin typeface="Arial"/>
              </a:defRPr>
            </a:pPr>
            <a:r>
              <a:t>• Tab 4: Thử nghiệm What-if: Kéo 6 thanh trượt chỉ số giả định, hệ thống tự chuẩn hóa Z-score và gán cụm thời gian thực.</a:t>
            </a:r>
          </a:p>
          <a:p>
            <a:pPr>
              <a:spcBef>
                <a:spcPts val="400"/>
              </a:spcBef>
              <a:spcAft>
                <a:spcPts val="0"/>
              </a:spcAft>
              <a:defRPr sz="1500">
                <a:solidFill>
                  <a:srgbClr val="0F172A"/>
                </a:solidFill>
                <a:latin typeface="Arial"/>
              </a:defRPr>
            </a:pPr>
            <a:r>
              <a:t>• Tối ưu hiệu năng: Bọc @st.cache_data, phản hồi dưới 0.1 giây.</a:t>
            </a:r>
          </a:p>
        </p:txBody>
      </p:sp>
    </p:spTree>
  </p:cSld>
  <p:clrMapOvr>
    <a:masterClrMapping/>
  </p:clrMapOvr>
  <p:transition spd="med" advClick="1">
    <p:push dir="l"/>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5: TỔNG KẾT ĐỀ TÀI</a:t>
            </a:r>
          </a:p>
          <a:p>
            <a:pPr>
              <a:spcBef>
                <a:spcPts val="300"/>
              </a:spcBef>
              <a:defRPr sz="2350" b="1">
                <a:solidFill>
                  <a:srgbClr val="0F172A"/>
                </a:solidFill>
                <a:latin typeface="Arial"/>
              </a:defRPr>
            </a:pPr>
            <a:r>
              <a:t>ĐÓNG GÓP CHÍNH, KẾT LUẬN &amp; HẠN CHẾ ĐỀ TÀI</a:t>
            </a:r>
          </a:p>
        </p:txBody>
      </p:sp>
      <p:sp>
        <p:nvSpPr>
          <p:cNvPr id="4" name="Rounded Rectangle 3"/>
          <p:cNvSpPr/>
          <p:nvPr/>
        </p:nvSpPr>
        <p:spPr>
          <a:xfrm>
            <a:off x="731520" y="1463040"/>
            <a:ext cx="5212080" cy="484632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4809744" cy="4846320"/>
          </a:xfrm>
          <a:prstGeom prst="rect">
            <a:avLst/>
          </a:prstGeom>
          <a:noFill/>
        </p:spPr>
        <p:txBody>
          <a:bodyPr wrap="square" anchor="ctr" lIns="0" tIns="0" rIns="0" bIns="0">
            <a:spAutoFit/>
          </a:bodyPr>
          <a:lstStyle/>
          <a:p>
            <a:pPr>
              <a:defRPr sz="1850" b="1">
                <a:solidFill>
                  <a:srgbClr val="059669"/>
                </a:solidFill>
                <a:latin typeface="Arial"/>
              </a:defRPr>
            </a:pPr>
            <a:r>
              <a:t>Đóng góp Cốt lõi của Đề tài</a:t>
            </a:r>
          </a:p>
          <a:p>
            <a:pPr>
              <a:spcBef>
                <a:spcPts val="500"/>
              </a:spcBef>
              <a:spcAft>
                <a:spcPts val="0"/>
              </a:spcAft>
              <a:defRPr sz="1700">
                <a:solidFill>
                  <a:srgbClr val="0F172A"/>
                </a:solidFill>
                <a:latin typeface="Arial"/>
              </a:defRPr>
            </a:pPr>
            <a:r>
              <a:t>• Pipeline nghiên cứu chuẩn mực: 11 bước khép kín từ tiền xử lý, EDA đến đóng gói ứng dụng, khả năng chạy lại 100%.</a:t>
            </a:r>
          </a:p>
          <a:p>
            <a:pPr>
              <a:spcBef>
                <a:spcPts val="500"/>
              </a:spcBef>
              <a:spcAft>
                <a:spcPts val="0"/>
              </a:spcAft>
              <a:defRPr sz="1700">
                <a:solidFill>
                  <a:srgbClr val="0F172A"/>
                </a:solidFill>
                <a:latin typeface="Arial"/>
              </a:defRPr>
            </a:pPr>
            <a:r>
              <a:t>• Lập trình From Scratch thành công: Tự cài đặt K-Means++, Hierarchical Ward và các độ đo đánh giá, đối chứng khớp scikit-learn sai số &lt; 1e-4.</a:t>
            </a:r>
          </a:p>
          <a:p>
            <a:pPr>
              <a:spcBef>
                <a:spcPts val="500"/>
              </a:spcBef>
              <a:spcAft>
                <a:spcPts val="0"/>
              </a:spcAft>
              <a:defRPr sz="1700">
                <a:solidFill>
                  <a:srgbClr val="0F172A"/>
                </a:solidFill>
                <a:latin typeface="Arial"/>
              </a:defRPr>
            </a:pPr>
            <a:r>
              <a:t>• Phát hiện thực nghiệm vững chắc: Chứng minh số cụm tối ưu k* = 3 đồng thuận qua cả 5 năm liên tiếp.</a:t>
            </a:r>
          </a:p>
          <a:p>
            <a:pPr>
              <a:spcBef>
                <a:spcPts val="500"/>
              </a:spcBef>
              <a:spcAft>
                <a:spcPts val="0"/>
              </a:spcAft>
              <a:defRPr sz="1700">
                <a:solidFill>
                  <a:srgbClr val="0F172A"/>
                </a:solidFill>
                <a:latin typeface="Arial"/>
              </a:defRPr>
            </a:pPr>
            <a:r>
              <a:t>• Sản phẩm ứng dụng thực tiễn: Bảng theo dõi dịch chuyển cụm 156 nước và web app tương tác 4 tab hoàn chỉnh.</a:t>
            </a:r>
          </a:p>
        </p:txBody>
      </p:sp>
      <p:sp>
        <p:nvSpPr>
          <p:cNvPr id="6" name="Rounded Rectangle 5"/>
          <p:cNvSpPr/>
          <p:nvPr/>
        </p:nvSpPr>
        <p:spPr>
          <a:xfrm>
            <a:off x="6245352" y="1463040"/>
            <a:ext cx="5212080" cy="4846320"/>
          </a:xfrm>
          <a:prstGeom prst="roundRect">
            <a:avLst/>
          </a:prstGeom>
          <a:solidFill>
            <a:srgbClr val="F8FAFC"/>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463040"/>
            <a:ext cx="4809744" cy="4846320"/>
          </a:xfrm>
          <a:prstGeom prst="rect">
            <a:avLst/>
          </a:prstGeom>
          <a:noFill/>
        </p:spPr>
        <p:txBody>
          <a:bodyPr wrap="square" anchor="ctr" lIns="0" tIns="0" rIns="0" bIns="0">
            <a:spAutoFit/>
          </a:bodyPr>
          <a:lstStyle/>
          <a:p>
            <a:pPr>
              <a:defRPr sz="1850" b="1">
                <a:solidFill>
                  <a:srgbClr val="DC2626"/>
                </a:solidFill>
                <a:latin typeface="Arial"/>
              </a:defRPr>
            </a:pPr>
            <a:r>
              <a:t>Hạn chế Nghiên cứu</a:t>
            </a:r>
          </a:p>
          <a:p>
            <a:pPr>
              <a:spcBef>
                <a:spcPts val="500"/>
              </a:spcBef>
              <a:spcAft>
                <a:spcPts val="0"/>
              </a:spcAft>
              <a:defRPr sz="1700">
                <a:solidFill>
                  <a:srgbClr val="0F172A"/>
                </a:solidFill>
                <a:latin typeface="Arial"/>
              </a:defRPr>
            </a:pPr>
            <a:r>
              <a:t>• Phạm vi biến số giới hạn: Báo cáo WHR chỉ gồm 6 yếu tố cơ bản, chưa bao quát bất bình đẳng thu nhập nội bộ (hệ số Gini) hay yếu tố văn hóa bản địa.</a:t>
            </a:r>
          </a:p>
          <a:p>
            <a:pPr>
              <a:spcBef>
                <a:spcPts val="500"/>
              </a:spcBef>
              <a:spcAft>
                <a:spcPts val="0"/>
              </a:spcAft>
              <a:defRPr sz="1700">
                <a:solidFill>
                  <a:srgbClr val="0F172A"/>
                </a:solidFill>
                <a:latin typeface="Arial"/>
              </a:defRPr>
            </a:pPr>
            <a:r>
              <a:t>• Giả định khoảng cách Euclid: Coi các trục đặc trưng trực giao, chưa mô hình hóa phi tuyến sâu giữa các biến có tương quan cao như GDP và Tuổi thọ.</a:t>
            </a:r>
          </a:p>
          <a:p>
            <a:pPr>
              <a:spcBef>
                <a:spcPts val="500"/>
              </a:spcBef>
              <a:spcAft>
                <a:spcPts val="0"/>
              </a:spcAft>
              <a:defRPr sz="1700">
                <a:solidFill>
                  <a:srgbClr val="0F172A"/>
                </a:solidFill>
                <a:latin typeface="Arial"/>
              </a:defRPr>
            </a:pPr>
            <a:r>
              <a:t>• Dữ liệu khảo sát mẫu: Gallup World Poll có độ lệch biên nhất định tại các vùng đang có xung đột địa chính trị.</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0284C7"/>
                </a:solidFill>
                <a:latin typeface="Arial"/>
              </a:defRPr>
            </a:pPr>
            <a:r>
              <a:t>CHƯƠNG 5: HƯỚNG MỞ RỘNG ĐỀ TÀI</a:t>
            </a:r>
          </a:p>
          <a:p>
            <a:pPr>
              <a:spcBef>
                <a:spcPts val="300"/>
              </a:spcBef>
              <a:defRPr sz="2350" b="1">
                <a:solidFill>
                  <a:srgbClr val="0F172A"/>
                </a:solidFill>
                <a:latin typeface="Arial"/>
              </a:defRPr>
            </a:pPr>
            <a:r>
              <a:t>HƯỚNG PHÁT TRIỂN &amp; NGHIÊN CỨU MỞ RỘNG</a:t>
            </a:r>
          </a:p>
        </p:txBody>
      </p:sp>
      <p:sp>
        <p:nvSpPr>
          <p:cNvPr id="4" name="Rounded Rectangle 3"/>
          <p:cNvSpPr/>
          <p:nvPr/>
        </p:nvSpPr>
        <p:spPr>
          <a:xfrm>
            <a:off x="731520" y="1463040"/>
            <a:ext cx="3383280" cy="484632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463040"/>
            <a:ext cx="2980944" cy="4846320"/>
          </a:xfrm>
          <a:prstGeom prst="rect">
            <a:avLst/>
          </a:prstGeom>
          <a:noFill/>
        </p:spPr>
        <p:txBody>
          <a:bodyPr wrap="square" anchor="ctr" lIns="0" tIns="0" rIns="0" bIns="0">
            <a:spAutoFit/>
          </a:bodyPr>
          <a:lstStyle/>
          <a:p>
            <a:pPr>
              <a:defRPr sz="1800" b="1">
                <a:solidFill>
                  <a:srgbClr val="059669"/>
                </a:solidFill>
                <a:latin typeface="Arial"/>
              </a:defRPr>
            </a:pPr>
            <a:r>
              <a:t>1. Mở rộng Chuỗi Dữ liệu (2020–2024)</a:t>
            </a:r>
          </a:p>
          <a:p>
            <a:pPr>
              <a:spcBef>
                <a:spcPts val="600"/>
              </a:spcBef>
              <a:spcAft>
                <a:spcPts val="0"/>
              </a:spcAft>
              <a:defRPr sz="1550">
                <a:solidFill>
                  <a:srgbClr val="0F172A"/>
                </a:solidFill>
                <a:latin typeface="Arial"/>
              </a:defRPr>
            </a:pPr>
            <a:r>
              <a:t>• Kéo dài chuỗi thời gian sang giai đoạn đại dịch COVID-19 và phục hồi.</a:t>
            </a:r>
          </a:p>
          <a:p>
            <a:pPr>
              <a:spcBef>
                <a:spcPts val="600"/>
              </a:spcBef>
              <a:spcAft>
                <a:spcPts val="0"/>
              </a:spcAft>
              <a:defRPr sz="1550">
                <a:solidFill>
                  <a:srgbClr val="0F172A"/>
                </a:solidFill>
                <a:latin typeface="Arial"/>
              </a:defRPr>
            </a:pPr>
            <a:r>
              <a:t>• Đo lường độ chống chịu của 3 cụm trước khủng hoảng y tế và lạm phát.</a:t>
            </a:r>
          </a:p>
          <a:p>
            <a:pPr>
              <a:spcBef>
                <a:spcPts val="600"/>
              </a:spcBef>
              <a:spcAft>
                <a:spcPts val="0"/>
              </a:spcAft>
              <a:defRPr sz="1550">
                <a:solidFill>
                  <a:srgbClr val="0F172A"/>
                </a:solidFill>
                <a:latin typeface="Arial"/>
              </a:defRPr>
            </a:pPr>
            <a:r>
              <a:t>• Khám phá xu hướng tái định hình trật tự hạnh phúc trong thập kỷ mới.</a:t>
            </a:r>
          </a:p>
        </p:txBody>
      </p:sp>
      <p:sp>
        <p:nvSpPr>
          <p:cNvPr id="6" name="Rounded Rectangle 5"/>
          <p:cNvSpPr/>
          <p:nvPr/>
        </p:nvSpPr>
        <p:spPr>
          <a:xfrm>
            <a:off x="4398264" y="1463040"/>
            <a:ext cx="3383280"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9432" y="1463040"/>
            <a:ext cx="2980944" cy="4846320"/>
          </a:xfrm>
          <a:prstGeom prst="rect">
            <a:avLst/>
          </a:prstGeom>
          <a:noFill/>
        </p:spPr>
        <p:txBody>
          <a:bodyPr wrap="square" anchor="ctr" lIns="0" tIns="0" rIns="0" bIns="0">
            <a:spAutoFit/>
          </a:bodyPr>
          <a:lstStyle/>
          <a:p>
            <a:pPr>
              <a:defRPr sz="1800" b="1">
                <a:solidFill>
                  <a:srgbClr val="2563EB"/>
                </a:solidFill>
                <a:latin typeface="Arial"/>
              </a:defRPr>
            </a:pPr>
            <a:r>
              <a:t>2. Bổ sung Chỉ số Vi mô (World Bank)</a:t>
            </a:r>
          </a:p>
          <a:p>
            <a:pPr>
              <a:spcBef>
                <a:spcPts val="600"/>
              </a:spcBef>
              <a:spcAft>
                <a:spcPts val="0"/>
              </a:spcAft>
              <a:defRPr sz="1550">
                <a:solidFill>
                  <a:srgbClr val="0F172A"/>
                </a:solidFill>
                <a:latin typeface="Arial"/>
              </a:defRPr>
            </a:pPr>
            <a:r>
              <a:t>• Tích hợp hệ số bất bình đẳng thu nhập Gini vào không gian phân tích.</a:t>
            </a:r>
          </a:p>
          <a:p>
            <a:pPr>
              <a:spcBef>
                <a:spcPts val="600"/>
              </a:spcBef>
              <a:spcAft>
                <a:spcPts val="0"/>
              </a:spcAft>
              <a:defRPr sz="1550">
                <a:solidFill>
                  <a:srgbClr val="0F172A"/>
                </a:solidFill>
                <a:latin typeface="Arial"/>
              </a:defRPr>
            </a:pPr>
            <a:r>
              <a:t>• Bổ sung chi tiêu ngân sách cho an sinh xã hội và giáo dục cơ sở.</a:t>
            </a:r>
          </a:p>
          <a:p>
            <a:pPr>
              <a:spcBef>
                <a:spcPts val="600"/>
              </a:spcBef>
              <a:spcAft>
                <a:spcPts val="0"/>
              </a:spcAft>
              <a:defRPr sz="1550">
                <a:solidFill>
                  <a:srgbClr val="0F172A"/>
                </a:solidFill>
                <a:latin typeface="Arial"/>
              </a:defRPr>
            </a:pPr>
            <a:r>
              <a:t>• Phản ánh chính xác phân hóa giàu - nghèo nội bộ thay vì chỉ xét bình quân.</a:t>
            </a:r>
          </a:p>
        </p:txBody>
      </p:sp>
      <p:sp>
        <p:nvSpPr>
          <p:cNvPr id="8" name="Rounded Rectangle 7"/>
          <p:cNvSpPr/>
          <p:nvPr/>
        </p:nvSpPr>
        <p:spPr>
          <a:xfrm>
            <a:off x="8065008" y="1463040"/>
            <a:ext cx="3383280" cy="484632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6" y="1463040"/>
            <a:ext cx="2980944" cy="4846320"/>
          </a:xfrm>
          <a:prstGeom prst="rect">
            <a:avLst/>
          </a:prstGeom>
          <a:noFill/>
        </p:spPr>
        <p:txBody>
          <a:bodyPr wrap="square" anchor="ctr" lIns="0" tIns="0" rIns="0" bIns="0">
            <a:spAutoFit/>
          </a:bodyPr>
          <a:lstStyle/>
          <a:p>
            <a:pPr>
              <a:defRPr sz="1800" b="1">
                <a:solidFill>
                  <a:srgbClr val="D97706"/>
                </a:solidFill>
                <a:latin typeface="Arial"/>
              </a:defRPr>
            </a:pPr>
            <a:r>
              <a:t>3. Thuật toán Gom cụm Nâng cao</a:t>
            </a:r>
          </a:p>
          <a:p>
            <a:pPr>
              <a:spcBef>
                <a:spcPts val="600"/>
              </a:spcBef>
              <a:spcAft>
                <a:spcPts val="0"/>
              </a:spcAft>
              <a:defRPr sz="1550">
                <a:solidFill>
                  <a:srgbClr val="0F172A"/>
                </a:solidFill>
                <a:latin typeface="Arial"/>
              </a:defRPr>
            </a:pPr>
            <a:r>
              <a:t>• Thử nghiệm phân cụm mờ (Fuzzy C-Means) cho quốc gia vùng biên.</a:t>
            </a:r>
          </a:p>
          <a:p>
            <a:pPr>
              <a:spcBef>
                <a:spcPts val="600"/>
              </a:spcBef>
              <a:spcAft>
                <a:spcPts val="0"/>
              </a:spcAft>
              <a:defRPr sz="1550">
                <a:solidFill>
                  <a:srgbClr val="0F172A"/>
                </a:solidFill>
                <a:latin typeface="Arial"/>
              </a:defRPr>
            </a:pPr>
            <a:r>
              <a:t>• Áp dụng mô hình hỗn hợp Gauss (GMM) tính xác suất mềm thuộc về cụm.</a:t>
            </a:r>
          </a:p>
          <a:p>
            <a:pPr>
              <a:spcBef>
                <a:spcPts val="600"/>
              </a:spcBef>
              <a:spcAft>
                <a:spcPts val="0"/>
              </a:spcAft>
              <a:defRPr sz="1550">
                <a:solidFill>
                  <a:srgbClr val="0F172A"/>
                </a:solidFill>
                <a:latin typeface="Arial"/>
              </a:defRPr>
            </a:pPr>
            <a:r>
              <a:t>• Phân cụm chuỗi thời gian (Time-series Clustering) với độ đo khoảng cách DTW.</a:t>
            </a:r>
          </a:p>
        </p:txBody>
      </p:sp>
    </p:spTree>
  </p:cSld>
  <p:clrMapOvr>
    <a:masterClrMapping/>
  </p:clrMapOvr>
  <p:transition spd="med" advClick="1">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868680"/>
          </a:xfrm>
          <a:prstGeom prst="rect">
            <a:avLst/>
          </a:prstGeom>
          <a:noFill/>
        </p:spPr>
        <p:txBody>
          <a:bodyPr wrap="square" lIns="0" tIns="0" rIns="0" bIns="0">
            <a:spAutoFit/>
          </a:bodyPr>
          <a:lstStyle/>
          <a:p>
            <a:pPr>
              <a:defRPr sz="1200" b="1">
                <a:solidFill>
                  <a:srgbClr val="FDE047"/>
                </a:solidFill>
                <a:latin typeface="Arial"/>
              </a:defRPr>
            </a:pPr>
            <a:r>
              <a:t>KẾT THÚC BÁO CÁO ĐỒ ÁN</a:t>
            </a:r>
          </a:p>
          <a:p>
            <a:pPr>
              <a:spcBef>
                <a:spcPts val="300"/>
              </a:spcBef>
              <a:defRPr sz="2350" b="1">
                <a:solidFill>
                  <a:srgbClr val="FFFFFF"/>
                </a:solidFill>
                <a:latin typeface="Arial"/>
              </a:defRPr>
            </a:pPr>
            <a:r>
              <a:t>LỜI CẢM ƠN &amp; PHIÊN VẤN ĐÁP (Q&amp;A)</a:t>
            </a:r>
          </a:p>
        </p:txBody>
      </p:sp>
      <p:sp>
        <p:nvSpPr>
          <p:cNvPr id="4" name="Rounded Rectangle 3"/>
          <p:cNvSpPr/>
          <p:nvPr/>
        </p:nvSpPr>
        <p:spPr>
          <a:xfrm>
            <a:off x="914400" y="1463040"/>
            <a:ext cx="10362895" cy="2194560"/>
          </a:xfrm>
          <a:prstGeom prst="roundRect">
            <a:avLst/>
          </a:prstGeom>
          <a:solidFill>
            <a:srgbClr val="1E293B"/>
          </a:solidFill>
          <a:ln w="19050">
            <a:solidFill>
              <a:srgbClr val="FDE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9997135" cy="2194560"/>
          </a:xfrm>
          <a:prstGeom prst="rect">
            <a:avLst/>
          </a:prstGeom>
          <a:noFill/>
        </p:spPr>
        <p:txBody>
          <a:bodyPr wrap="square" anchor="ctr" lIns="0" tIns="0" rIns="0" bIns="0">
            <a:spAutoFit/>
          </a:bodyPr>
          <a:lstStyle/>
          <a:p>
            <a:pPr algn="ctr">
              <a:defRPr sz="2800" b="1">
                <a:solidFill>
                  <a:srgbClr val="FDE047"/>
                </a:solidFill>
                <a:latin typeface="Arial"/>
              </a:defRPr>
            </a:pPr>
            <a:r>
              <a:t>XIN CHÂN THÀNH CẢM ƠN THẦY VÀ HỘI ĐỒNG!</a:t>
            </a:r>
          </a:p>
          <a:p>
            <a:pPr algn="ctr">
              <a:spcBef>
                <a:spcPts val="800"/>
              </a:spcBef>
              <a:defRPr sz="1800">
                <a:solidFill>
                  <a:srgbClr val="FFFFFF"/>
                </a:solidFill>
                <a:latin typeface="Arial"/>
              </a:defRPr>
            </a:pPr>
            <a:r>
              <a:t>Cả 3 thành viên Nhóm 12 sẵn sàng lắng nghe và giải đáp các câu hỏi phản biện từ Quý Thầy Cô.</a:t>
            </a:r>
          </a:p>
          <a:p>
            <a:pPr algn="ctr">
              <a:spcBef>
                <a:spcPts val="600"/>
              </a:spcBef>
              <a:defRPr sz="1500">
                <a:solidFill>
                  <a:srgbClr val="94A3B8"/>
                </a:solidFill>
                <a:latin typeface="Arial"/>
              </a:defRPr>
            </a:pPr>
            <a:r>
              <a:t>Đề tài 16: Phân nhóm quốc gia theo các yếu tố hạnh phúc (World Happiness Report 2015–2019)</a:t>
            </a:r>
          </a:p>
        </p:txBody>
      </p:sp>
      <p:sp>
        <p:nvSpPr>
          <p:cNvPr id="6" name="Rounded Rectangle 5"/>
          <p:cNvSpPr/>
          <p:nvPr/>
        </p:nvSpPr>
        <p:spPr>
          <a:xfrm>
            <a:off x="914400" y="3931920"/>
            <a:ext cx="3291840" cy="205740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931920"/>
            <a:ext cx="2926080" cy="2057400"/>
          </a:xfrm>
          <a:prstGeom prst="rect">
            <a:avLst/>
          </a:prstGeom>
          <a:noFill/>
        </p:spPr>
        <p:txBody>
          <a:bodyPr wrap="square" anchor="ctr" lIns="0" tIns="0" rIns="0" bIns="0">
            <a:spAutoFit/>
          </a:bodyPr>
          <a:lstStyle/>
          <a:p>
            <a:pPr algn="ctr">
              <a:defRPr sz="1950" b="1">
                <a:solidFill>
                  <a:srgbClr val="FFFFFF"/>
                </a:solidFill>
                <a:latin typeface="Arial"/>
              </a:defRPr>
            </a:pPr>
            <a:r>
              <a:t>Hà Mạnh Trường</a:t>
            </a:r>
          </a:p>
          <a:p>
            <a:pPr algn="ctr">
              <a:spcBef>
                <a:spcPts val="400"/>
              </a:spcBef>
              <a:defRPr sz="1500">
                <a:solidFill>
                  <a:srgbClr val="FDE047"/>
                </a:solidFill>
                <a:latin typeface="Arial"/>
              </a:defRPr>
            </a:pPr>
            <a:r>
              <a:t>MSSV: 2045240326 (Nhóm trưởng)</a:t>
            </a:r>
          </a:p>
          <a:p>
            <a:pPr algn="ctr">
              <a:spcBef>
                <a:spcPts val="600"/>
              </a:spcBef>
              <a:defRPr sz="1450">
                <a:solidFill>
                  <a:srgbClr val="E2E8F0"/>
                </a:solidFill>
                <a:latin typeface="Arial"/>
              </a:defRPr>
            </a:pPr>
            <a:r>
              <a:t>Phần 1: Dữ liệu &amp; Tiền xử lý</a:t>
            </a:r>
          </a:p>
        </p:txBody>
      </p:sp>
      <p:sp>
        <p:nvSpPr>
          <p:cNvPr id="8" name="Rounded Rectangle 7"/>
          <p:cNvSpPr/>
          <p:nvPr/>
        </p:nvSpPr>
        <p:spPr>
          <a:xfrm>
            <a:off x="4443984" y="3931920"/>
            <a:ext cx="3291840" cy="205740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6864" y="3931920"/>
            <a:ext cx="2926080" cy="2057400"/>
          </a:xfrm>
          <a:prstGeom prst="rect">
            <a:avLst/>
          </a:prstGeom>
          <a:noFill/>
        </p:spPr>
        <p:txBody>
          <a:bodyPr wrap="square" anchor="ctr" lIns="0" tIns="0" rIns="0" bIns="0">
            <a:spAutoFit/>
          </a:bodyPr>
          <a:lstStyle/>
          <a:p>
            <a:pPr algn="ctr">
              <a:defRPr sz="1950" b="1">
                <a:solidFill>
                  <a:srgbClr val="FFFFFF"/>
                </a:solidFill>
                <a:latin typeface="Arial"/>
              </a:defRPr>
            </a:pPr>
            <a:r>
              <a:t>Huỳnh Tâm Trí</a:t>
            </a:r>
          </a:p>
          <a:p>
            <a:pPr algn="ctr">
              <a:spcBef>
                <a:spcPts val="400"/>
              </a:spcBef>
              <a:defRPr sz="1500">
                <a:solidFill>
                  <a:srgbClr val="FDE047"/>
                </a:solidFill>
                <a:latin typeface="Arial"/>
              </a:defRPr>
            </a:pPr>
            <a:r>
              <a:t>MSSV: 2045240315</a:t>
            </a:r>
          </a:p>
          <a:p>
            <a:pPr algn="ctr">
              <a:spcBef>
                <a:spcPts val="600"/>
              </a:spcBef>
              <a:defRPr sz="1450">
                <a:solidFill>
                  <a:srgbClr val="E2E8F0"/>
                </a:solidFill>
                <a:latin typeface="Arial"/>
              </a:defRPr>
            </a:pPr>
            <a:r>
              <a:t>Phần 2: Thuật toán From Scratch</a:t>
            </a:r>
          </a:p>
        </p:txBody>
      </p:sp>
      <p:sp>
        <p:nvSpPr>
          <p:cNvPr id="10" name="Rounded Rectangle 9"/>
          <p:cNvSpPr/>
          <p:nvPr/>
        </p:nvSpPr>
        <p:spPr>
          <a:xfrm>
            <a:off x="7973568" y="3931920"/>
            <a:ext cx="3291840" cy="2057400"/>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56448" y="3931920"/>
            <a:ext cx="2926080" cy="2057400"/>
          </a:xfrm>
          <a:prstGeom prst="rect">
            <a:avLst/>
          </a:prstGeom>
          <a:noFill/>
        </p:spPr>
        <p:txBody>
          <a:bodyPr wrap="square" anchor="ctr" lIns="0" tIns="0" rIns="0" bIns="0">
            <a:spAutoFit/>
          </a:bodyPr>
          <a:lstStyle/>
          <a:p>
            <a:pPr algn="ctr">
              <a:defRPr sz="1950" b="1">
                <a:solidFill>
                  <a:srgbClr val="FFFFFF"/>
                </a:solidFill>
                <a:latin typeface="Arial"/>
              </a:defRPr>
            </a:pPr>
            <a:r>
              <a:t>Ngô Quang Trung</a:t>
            </a:r>
          </a:p>
          <a:p>
            <a:pPr algn="ctr">
              <a:spcBef>
                <a:spcPts val="400"/>
              </a:spcBef>
              <a:defRPr sz="1500">
                <a:solidFill>
                  <a:srgbClr val="FDE047"/>
                </a:solidFill>
                <a:latin typeface="Arial"/>
              </a:defRPr>
            </a:pPr>
            <a:r>
              <a:t>MSSV: 2045240325</a:t>
            </a:r>
          </a:p>
          <a:p>
            <a:pPr algn="ctr">
              <a:spcBef>
                <a:spcPts val="600"/>
              </a:spcBef>
              <a:defRPr sz="1450">
                <a:solidFill>
                  <a:srgbClr val="E2E8F0"/>
                </a:solidFill>
                <a:latin typeface="Arial"/>
              </a:defRPr>
            </a:pPr>
            <a:r>
              <a:t>Phần 3: Diễn giải tri thức &amp; Demo</a:t>
            </a:r>
          </a:p>
        </p:txBody>
      </p:sp>
      <p:sp>
        <p:nvSpPr>
          <p:cNvPr id="12" name="TextBox 11"/>
          <p:cNvSpPr txBox="1"/>
          <p:nvPr/>
        </p:nvSpPr>
        <p:spPr>
          <a:xfrm>
            <a:off x="914400" y="6172200"/>
            <a:ext cx="10362895" cy="457200"/>
          </a:xfrm>
          <a:prstGeom prst="rect">
            <a:avLst/>
          </a:prstGeom>
          <a:noFill/>
        </p:spPr>
        <p:txBody>
          <a:bodyPr wrap="none">
            <a:spAutoFit/>
          </a:bodyPr>
          <a:lstStyle/>
          <a:p>
            <a:pPr algn="ctr">
              <a:defRPr sz="1350">
                <a:solidFill>
                  <a:srgbClr val="64748B"/>
                </a:solidFill>
                <a:latin typeface="Arial"/>
              </a:defRPr>
            </a:pPr>
            <a:r>
              <a:t>Mã nguồn From Scratch, Dữ liệu chuẩn hóa 781 dòng &amp; Ứng dụng Streamlit 4 tab đã sẵn sàng.</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